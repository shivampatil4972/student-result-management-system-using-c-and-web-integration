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27"/>
  </p:notesMasterIdLst>
  <p:sldIdLst>
    <p:sldId id="256" r:id="rId2"/>
    <p:sldId id="257" r:id="rId3"/>
    <p:sldId id="259" r:id="rId4"/>
    <p:sldId id="317" r:id="rId5"/>
    <p:sldId id="263" r:id="rId6"/>
    <p:sldId id="312" r:id="rId7"/>
    <p:sldId id="265" r:id="rId8"/>
    <p:sldId id="266" r:id="rId9"/>
    <p:sldId id="267" r:id="rId10"/>
    <p:sldId id="272" r:id="rId11"/>
    <p:sldId id="313" r:id="rId12"/>
    <p:sldId id="278" r:id="rId13"/>
    <p:sldId id="319" r:id="rId14"/>
    <p:sldId id="320" r:id="rId15"/>
    <p:sldId id="321" r:id="rId16"/>
    <p:sldId id="322" r:id="rId17"/>
    <p:sldId id="269" r:id="rId18"/>
    <p:sldId id="323" r:id="rId19"/>
    <p:sldId id="324" r:id="rId20"/>
    <p:sldId id="325" r:id="rId21"/>
    <p:sldId id="314" r:id="rId22"/>
    <p:sldId id="318" r:id="rId23"/>
    <p:sldId id="315" r:id="rId24"/>
    <p:sldId id="316" r:id="rId25"/>
    <p:sldId id="291" r:id="rId26"/>
  </p:sldIdLst>
  <p:sldSz cx="9144000" cy="5143500" type="screen16x9"/>
  <p:notesSz cx="6858000" cy="9144000"/>
  <p:embeddedFontLst>
    <p:embeddedFont>
      <p:font typeface="Aldhabi" panose="01000000000000000000" pitchFamily="2" charset="-78"/>
      <p:regular r:id="rId28"/>
    </p:embeddedFont>
    <p:embeddedFont>
      <p:font typeface="Bell MT" panose="02020503060305020303" pitchFamily="18" charset="0"/>
      <p:regular r:id="rId29"/>
      <p:bold r:id="rId30"/>
      <p:italic r:id="rId31"/>
    </p:embeddedFont>
    <p:embeddedFont>
      <p:font typeface="Berlin Sans FB" panose="020E0602020502020306" pitchFamily="34" charset="0"/>
      <p:regular r:id="rId32"/>
      <p:bold r:id="rId33"/>
    </p:embeddedFont>
    <p:embeddedFont>
      <p:font typeface="Bookman Old Style" panose="02050604050505020204" pitchFamily="18" charset="0"/>
      <p:regular r:id="rId34"/>
      <p:bold r:id="rId35"/>
      <p:italic r:id="rId36"/>
      <p:boldItalic r:id="rId37"/>
    </p:embeddedFont>
    <p:embeddedFont>
      <p:font typeface="Californian FB" panose="0207040306080B030204" pitchFamily="18" charset="0"/>
      <p:regular r:id="rId38"/>
      <p:bold r:id="rId39"/>
      <p:italic r:id="rId40"/>
    </p:embeddedFont>
    <p:embeddedFont>
      <p:font typeface="Cardo" panose="020B0604020202020204" charset="-79"/>
      <p:regular r:id="rId41"/>
      <p:bold r:id="rId42"/>
      <p:italic r:id="rId43"/>
    </p:embeddedFont>
    <p:embeddedFont>
      <p:font typeface="Josefin Sans" pitchFamily="2" charset="0"/>
      <p:regular r:id="rId44"/>
      <p:bold r:id="rId45"/>
      <p:italic r:id="rId46"/>
      <p:boldItalic r:id="rId47"/>
    </p:embeddedFont>
    <p:embeddedFont>
      <p:font typeface="Open Sans" panose="020B0606030504020204" pitchFamily="34" charset="0"/>
      <p:regular r:id="rId48"/>
      <p:bold r:id="rId49"/>
      <p:italic r:id="rId50"/>
      <p:boldItalic r:id="rId51"/>
    </p:embeddedFont>
    <p:embeddedFont>
      <p:font typeface="Roboto Condensed Light" panose="02000000000000000000" pitchFamily="2" charset="0"/>
      <p:regular r:id="rId52"/>
      <p:italic r:id="rId53"/>
    </p:embeddedFont>
    <p:embeddedFont>
      <p:font typeface="Teko" panose="020B0604020202020204" charset="0"/>
      <p:regular r:id="rId54"/>
      <p:bold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81ABDE-81AE-4128-9D1C-D56AFF6AB158}">
  <a:tblStyle styleId="{4F81ABDE-81AE-4128-9D1C-D56AFF6AB1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12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74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font" Target="fonts/font23.fntdata"/><Relationship Id="rId55" Type="http://schemas.openxmlformats.org/officeDocument/2006/relationships/font" Target="fonts/font2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font" Target="fonts/font2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54" Type="http://schemas.openxmlformats.org/officeDocument/2006/relationships/font" Target="fonts/font2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0c4e3018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0c4e3018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0602e587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10602e587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d019cdf33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d019cdf33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412B8D7B-09F3-218A-1A1A-A69352BD2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d019cdf330_0_388:notes">
            <a:extLst>
              <a:ext uri="{FF2B5EF4-FFF2-40B4-BE49-F238E27FC236}">
                <a16:creationId xmlns:a16="http://schemas.microsoft.com/office/drawing/2014/main" id="{4CAC57DA-C6D8-979C-67D4-4478E5BE88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d019cdf330_0_388:notes">
            <a:extLst>
              <a:ext uri="{FF2B5EF4-FFF2-40B4-BE49-F238E27FC236}">
                <a16:creationId xmlns:a16="http://schemas.microsoft.com/office/drawing/2014/main" id="{9FF389AA-4BC3-8532-3889-3EB97E247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722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0602e5875_0_1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10602e5875_0_1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>
          <a:extLst>
            <a:ext uri="{FF2B5EF4-FFF2-40B4-BE49-F238E27FC236}">
              <a16:creationId xmlns:a16="http://schemas.microsoft.com/office/drawing/2014/main" id="{F1B27D47-F13C-96D8-1E45-853DABFB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0602e5875_0_1877:notes">
            <a:extLst>
              <a:ext uri="{FF2B5EF4-FFF2-40B4-BE49-F238E27FC236}">
                <a16:creationId xmlns:a16="http://schemas.microsoft.com/office/drawing/2014/main" id="{96CF4E31-9625-96AB-E123-18035F2E3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10602e5875_0_1877:notes">
            <a:extLst>
              <a:ext uri="{FF2B5EF4-FFF2-40B4-BE49-F238E27FC236}">
                <a16:creationId xmlns:a16="http://schemas.microsoft.com/office/drawing/2014/main" id="{6A849808-E34A-9187-37D6-D677C84C1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8090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10602e5875_0_18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10602e5875_0_18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10602e5875_0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10602e5875_0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0602e5875_0_1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10602e5875_0_1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10602e5875_0_19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10602e5875_0_19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442A86F9-B050-C523-BDF6-B47A88B19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10602e5875_0_1986:notes">
            <a:extLst>
              <a:ext uri="{FF2B5EF4-FFF2-40B4-BE49-F238E27FC236}">
                <a16:creationId xmlns:a16="http://schemas.microsoft.com/office/drawing/2014/main" id="{0681FC6E-ED96-6CC0-7F08-01E87A13E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10602e5875_0_1986:notes">
            <a:extLst>
              <a:ext uri="{FF2B5EF4-FFF2-40B4-BE49-F238E27FC236}">
                <a16:creationId xmlns:a16="http://schemas.microsoft.com/office/drawing/2014/main" id="{D8EA5ADD-CB4A-F2B0-FF17-606178298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711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10602e5875_0_2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10602e5875_0_2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5C96622E-23AA-72C3-FC3A-F9715B4E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10602e5875_0_2146:notes">
            <a:extLst>
              <a:ext uri="{FF2B5EF4-FFF2-40B4-BE49-F238E27FC236}">
                <a16:creationId xmlns:a16="http://schemas.microsoft.com/office/drawing/2014/main" id="{1F0D098B-FF3B-1327-16EB-747D73883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10602e5875_0_2146:notes">
            <a:extLst>
              <a:ext uri="{FF2B5EF4-FFF2-40B4-BE49-F238E27FC236}">
                <a16:creationId xmlns:a16="http://schemas.microsoft.com/office/drawing/2014/main" id="{75991FC9-7907-C0B3-79FE-C7E4CE42A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54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B8476529-ADD8-B71C-267F-A0B0CD6C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10602e5875_0_2146:notes">
            <a:extLst>
              <a:ext uri="{FF2B5EF4-FFF2-40B4-BE49-F238E27FC236}">
                <a16:creationId xmlns:a16="http://schemas.microsoft.com/office/drawing/2014/main" id="{E6F5B1E2-6B27-3B73-B22D-6CA6B7ABC0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10602e5875_0_2146:notes">
            <a:extLst>
              <a:ext uri="{FF2B5EF4-FFF2-40B4-BE49-F238E27FC236}">
                <a16:creationId xmlns:a16="http://schemas.microsoft.com/office/drawing/2014/main" id="{5E477005-8464-C8F3-DD93-41C99AE9A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6133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9B54C098-DCD3-57DF-A3AF-EEEE2EA90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10602e5875_0_2146:notes">
            <a:extLst>
              <a:ext uri="{FF2B5EF4-FFF2-40B4-BE49-F238E27FC236}">
                <a16:creationId xmlns:a16="http://schemas.microsoft.com/office/drawing/2014/main" id="{49BE0977-DF52-FB6B-F593-6D1D0821F3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10602e5875_0_2146:notes">
            <a:extLst>
              <a:ext uri="{FF2B5EF4-FFF2-40B4-BE49-F238E27FC236}">
                <a16:creationId xmlns:a16="http://schemas.microsoft.com/office/drawing/2014/main" id="{14D6A0BC-EC10-F5EB-07C4-AAD430709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4391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E9568E04-B9CD-9CB0-90BE-0A86A638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10602e5875_0_2146:notes">
            <a:extLst>
              <a:ext uri="{FF2B5EF4-FFF2-40B4-BE49-F238E27FC236}">
                <a16:creationId xmlns:a16="http://schemas.microsoft.com/office/drawing/2014/main" id="{4DF4AEBD-A65D-68DE-E84F-B01F21935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10602e5875_0_2146:notes">
            <a:extLst>
              <a:ext uri="{FF2B5EF4-FFF2-40B4-BE49-F238E27FC236}">
                <a16:creationId xmlns:a16="http://schemas.microsoft.com/office/drawing/2014/main" id="{2B6C1D55-C686-AF1C-EF4B-33095D4949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430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10602e5875_0_1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10602e5875_0_1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F08E35E6-FB10-256E-7DCC-14FE1E718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10602e5875_0_1912:notes">
            <a:extLst>
              <a:ext uri="{FF2B5EF4-FFF2-40B4-BE49-F238E27FC236}">
                <a16:creationId xmlns:a16="http://schemas.microsoft.com/office/drawing/2014/main" id="{9FB521F8-5BE5-5CC2-8A57-1390058A9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10602e5875_0_1912:notes">
            <a:extLst>
              <a:ext uri="{FF2B5EF4-FFF2-40B4-BE49-F238E27FC236}">
                <a16:creationId xmlns:a16="http://schemas.microsoft.com/office/drawing/2014/main" id="{14AC3EC1-DCE8-78DF-CDC6-59CF54905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718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876BF884-EA6C-CAEF-0AF3-CAB169A2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10602e5875_0_1912:notes">
            <a:extLst>
              <a:ext uri="{FF2B5EF4-FFF2-40B4-BE49-F238E27FC236}">
                <a16:creationId xmlns:a16="http://schemas.microsoft.com/office/drawing/2014/main" id="{A33796E5-A2E2-5577-0F50-4E9DDA4F7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10602e5875_0_1912:notes">
            <a:extLst>
              <a:ext uri="{FF2B5EF4-FFF2-40B4-BE49-F238E27FC236}">
                <a16:creationId xmlns:a16="http://schemas.microsoft.com/office/drawing/2014/main" id="{B7FFBD4D-DF58-485D-FB64-1B67F1E43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5375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9EC3139C-089B-9379-1F9D-90EC41E1B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10602e5875_0_1912:notes">
            <a:extLst>
              <a:ext uri="{FF2B5EF4-FFF2-40B4-BE49-F238E27FC236}">
                <a16:creationId xmlns:a16="http://schemas.microsoft.com/office/drawing/2014/main" id="{97487013-17AC-FE0F-1F2A-06A0678DC6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10602e5875_0_1912:notes">
            <a:extLst>
              <a:ext uri="{FF2B5EF4-FFF2-40B4-BE49-F238E27FC236}">
                <a16:creationId xmlns:a16="http://schemas.microsoft.com/office/drawing/2014/main" id="{B1884BBC-CB75-6733-2211-76A995478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7763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D4CC32B2-934C-A827-7E13-5F926B3B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10602e5875_0_1889:notes">
            <a:extLst>
              <a:ext uri="{FF2B5EF4-FFF2-40B4-BE49-F238E27FC236}">
                <a16:creationId xmlns:a16="http://schemas.microsoft.com/office/drawing/2014/main" id="{283A11C7-E6A4-9BB1-2BB6-59D43E9EBD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10602e5875_0_1889:notes">
            <a:extLst>
              <a:ext uri="{FF2B5EF4-FFF2-40B4-BE49-F238E27FC236}">
                <a16:creationId xmlns:a16="http://schemas.microsoft.com/office/drawing/2014/main" id="{65C694C2-222F-0B81-8C83-200F38167E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0282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B5E3AE4E-A315-D1A8-D8B6-72B751CFB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10602e5875_0_1889:notes">
            <a:extLst>
              <a:ext uri="{FF2B5EF4-FFF2-40B4-BE49-F238E27FC236}">
                <a16:creationId xmlns:a16="http://schemas.microsoft.com/office/drawing/2014/main" id="{5BB5A99C-B2C1-03C9-F50D-0C977CBCC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10602e5875_0_1889:notes">
            <a:extLst>
              <a:ext uri="{FF2B5EF4-FFF2-40B4-BE49-F238E27FC236}">
                <a16:creationId xmlns:a16="http://schemas.microsoft.com/office/drawing/2014/main" id="{FCC3120A-1D9E-E546-4F05-0A02FF1A55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4139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1D9035A0-252D-5AA1-73EC-F7685BD0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10602e5875_0_2146:notes">
            <a:extLst>
              <a:ext uri="{FF2B5EF4-FFF2-40B4-BE49-F238E27FC236}">
                <a16:creationId xmlns:a16="http://schemas.microsoft.com/office/drawing/2014/main" id="{9EE69FB6-3CAD-8C4D-088F-0BE660DAF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10602e5875_0_2146:notes">
            <a:extLst>
              <a:ext uri="{FF2B5EF4-FFF2-40B4-BE49-F238E27FC236}">
                <a16:creationId xmlns:a16="http://schemas.microsoft.com/office/drawing/2014/main" id="{7ECEFFFD-1A4B-FB74-3E53-674D9D6F8C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74501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0AD2466D-4861-16BA-83BC-C80A2B94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10602e5875_0_1889:notes">
            <a:extLst>
              <a:ext uri="{FF2B5EF4-FFF2-40B4-BE49-F238E27FC236}">
                <a16:creationId xmlns:a16="http://schemas.microsoft.com/office/drawing/2014/main" id="{BF79EDAB-9789-08BE-06A7-9D213820D8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10602e5875_0_1889:notes">
            <a:extLst>
              <a:ext uri="{FF2B5EF4-FFF2-40B4-BE49-F238E27FC236}">
                <a16:creationId xmlns:a16="http://schemas.microsoft.com/office/drawing/2014/main" id="{355EFC5F-59A4-754F-7214-9B45C6AF2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48968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110602e5875_0_2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110602e5875_0_2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69674"/>
            <a:ext cx="4608600" cy="21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Josefin Sans"/>
              <a:buNone/>
              <a:defRPr sz="63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483875"/>
            <a:ext cx="4608600" cy="4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rdo"/>
              <a:buNone/>
              <a:defRPr sz="1750">
                <a:latin typeface="Cardo"/>
                <a:ea typeface="Cardo"/>
                <a:cs typeface="Cardo"/>
                <a:sym typeface="Card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12350" y="475488"/>
            <a:ext cx="77193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709875" y="1059000"/>
            <a:ext cx="7719300" cy="35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25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8650" y="-617175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0325" y="176875"/>
            <a:ext cx="839381" cy="8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4650" y="4370000"/>
            <a:ext cx="588600" cy="6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899225" y="2084325"/>
            <a:ext cx="3571874" cy="355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04600" y="475488"/>
            <a:ext cx="40842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788800" y="1691465"/>
            <a:ext cx="3499200" cy="2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ONE_COLUMN_TEXT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42225" y="3289325"/>
            <a:ext cx="3095700" cy="4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4142225" y="1302200"/>
            <a:ext cx="4298100" cy="17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-74175" y="2702400"/>
            <a:ext cx="1600" cy="1600"/>
          </a:xfrm>
          <a:custGeom>
            <a:avLst/>
            <a:gdLst/>
            <a:ahLst/>
            <a:cxnLst/>
            <a:rect l="l" t="t" r="r" b="b"/>
            <a:pathLst>
              <a:path w="64" h="64" extrusionOk="0">
                <a:moveTo>
                  <a:pt x="63" y="0"/>
                </a:moveTo>
                <a:cubicBezTo>
                  <a:pt x="21" y="21"/>
                  <a:pt x="0" y="21"/>
                  <a:pt x="0" y="63"/>
                </a:cubicBezTo>
                <a:cubicBezTo>
                  <a:pt x="42" y="63"/>
                  <a:pt x="63" y="21"/>
                  <a:pt x="63" y="0"/>
                </a:cubicBez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-72600" y="2702400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732575" y="2473925"/>
            <a:ext cx="40998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title" idx="2" hasCustomPrompt="1"/>
          </p:nvPr>
        </p:nvSpPr>
        <p:spPr>
          <a:xfrm>
            <a:off x="732575" y="1178426"/>
            <a:ext cx="2561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732575" y="3299049"/>
            <a:ext cx="40998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717144" y="1577165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ubTitle" idx="1"/>
          </p:nvPr>
        </p:nvSpPr>
        <p:spPr>
          <a:xfrm>
            <a:off x="713225" y="2306939"/>
            <a:ext cx="3871800" cy="12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3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5623687" y="1580048"/>
            <a:ext cx="2807100" cy="7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ubTitle" idx="1"/>
          </p:nvPr>
        </p:nvSpPr>
        <p:spPr>
          <a:xfrm>
            <a:off x="4562887" y="2311568"/>
            <a:ext cx="3867900" cy="1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3_1_1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title"/>
          </p:nvPr>
        </p:nvSpPr>
        <p:spPr>
          <a:xfrm>
            <a:off x="708600" y="381300"/>
            <a:ext cx="6763500" cy="12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ubTitle" idx="1"/>
          </p:nvPr>
        </p:nvSpPr>
        <p:spPr>
          <a:xfrm>
            <a:off x="721050" y="1841400"/>
            <a:ext cx="2703300" cy="14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3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713225" y="380849"/>
            <a:ext cx="3717600" cy="11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subTitle" idx="1"/>
          </p:nvPr>
        </p:nvSpPr>
        <p:spPr>
          <a:xfrm>
            <a:off x="713219" y="2597342"/>
            <a:ext cx="17256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ubTitle" idx="2"/>
          </p:nvPr>
        </p:nvSpPr>
        <p:spPr>
          <a:xfrm>
            <a:off x="6705113" y="2600546"/>
            <a:ext cx="17256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3"/>
          </p:nvPr>
        </p:nvSpPr>
        <p:spPr>
          <a:xfrm>
            <a:off x="6705113" y="2064313"/>
            <a:ext cx="1725600" cy="4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19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subTitle" idx="4"/>
          </p:nvPr>
        </p:nvSpPr>
        <p:spPr>
          <a:xfrm>
            <a:off x="713219" y="2067525"/>
            <a:ext cx="1725600" cy="4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19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TITLE_AND_TWO_COLUMNS_1_4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>
            <a:spLocks noGrp="1"/>
          </p:cNvSpPr>
          <p:nvPr>
            <p:ph type="title"/>
          </p:nvPr>
        </p:nvSpPr>
        <p:spPr>
          <a:xfrm>
            <a:off x="713225" y="475488"/>
            <a:ext cx="77268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2"/>
          <p:cNvSpPr txBox="1">
            <a:spLocks noGrp="1"/>
          </p:cNvSpPr>
          <p:nvPr>
            <p:ph type="subTitle" idx="1"/>
          </p:nvPr>
        </p:nvSpPr>
        <p:spPr>
          <a:xfrm>
            <a:off x="2241813" y="1860900"/>
            <a:ext cx="19386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2"/>
          <p:cNvSpPr txBox="1">
            <a:spLocks noGrp="1"/>
          </p:cNvSpPr>
          <p:nvPr>
            <p:ph type="subTitle" idx="2"/>
          </p:nvPr>
        </p:nvSpPr>
        <p:spPr>
          <a:xfrm>
            <a:off x="2241807" y="3283300"/>
            <a:ext cx="19386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subTitle" idx="3"/>
          </p:nvPr>
        </p:nvSpPr>
        <p:spPr>
          <a:xfrm>
            <a:off x="5675372" y="1860900"/>
            <a:ext cx="19386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ubTitle" idx="4"/>
          </p:nvPr>
        </p:nvSpPr>
        <p:spPr>
          <a:xfrm>
            <a:off x="5694110" y="3283300"/>
            <a:ext cx="19386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subTitle" idx="5"/>
          </p:nvPr>
        </p:nvSpPr>
        <p:spPr>
          <a:xfrm>
            <a:off x="2241813" y="1440725"/>
            <a:ext cx="1941900" cy="4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19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ubTitle" idx="6"/>
          </p:nvPr>
        </p:nvSpPr>
        <p:spPr>
          <a:xfrm>
            <a:off x="2241807" y="2863125"/>
            <a:ext cx="1941900" cy="4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19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subTitle" idx="7"/>
          </p:nvPr>
        </p:nvSpPr>
        <p:spPr>
          <a:xfrm>
            <a:off x="5675372" y="1440725"/>
            <a:ext cx="1941900" cy="4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19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ubTitle" idx="8"/>
          </p:nvPr>
        </p:nvSpPr>
        <p:spPr>
          <a:xfrm>
            <a:off x="5694110" y="2863125"/>
            <a:ext cx="1941900" cy="4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19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AND_BODY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>
            <a:spLocks noGrp="1"/>
          </p:cNvSpPr>
          <p:nvPr>
            <p:ph type="title"/>
          </p:nvPr>
        </p:nvSpPr>
        <p:spPr>
          <a:xfrm>
            <a:off x="713225" y="549500"/>
            <a:ext cx="4971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7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88" name="Google Shape;188;p35"/>
          <p:cNvSpPr txBox="1">
            <a:spLocks noGrp="1"/>
          </p:cNvSpPr>
          <p:nvPr>
            <p:ph type="subTitle" idx="1"/>
          </p:nvPr>
        </p:nvSpPr>
        <p:spPr>
          <a:xfrm>
            <a:off x="713225" y="2406795"/>
            <a:ext cx="4429200" cy="9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5"/>
          <p:cNvSpPr txBox="1"/>
          <p:nvPr/>
        </p:nvSpPr>
        <p:spPr>
          <a:xfrm>
            <a:off x="713225" y="3434350"/>
            <a:ext cx="473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rPr>
              <a:t>CREDITS: This presentation template was created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Cardo"/>
                <a:ea typeface="Cardo"/>
                <a:cs typeface="Cardo"/>
                <a:sym typeface="Card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rPr>
              <a:t>, including icons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Cardo"/>
                <a:ea typeface="Cardo"/>
                <a:cs typeface="Cardo"/>
                <a:sym typeface="Card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" sz="12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rPr>
              <a:t>and infographics &amp; images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Cardo"/>
                <a:ea typeface="Cardo"/>
                <a:cs typeface="Cardo"/>
                <a:sym typeface="Card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2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AND_BODY_1_1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4675" y="1704325"/>
            <a:ext cx="3571874" cy="3555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36"/>
          <p:cNvGrpSpPr/>
          <p:nvPr/>
        </p:nvGrpSpPr>
        <p:grpSpPr>
          <a:xfrm rot="10800000">
            <a:off x="-1235208" y="219091"/>
            <a:ext cx="3571874" cy="3605474"/>
            <a:chOff x="7224675" y="-1465300"/>
            <a:chExt cx="3571874" cy="3605474"/>
          </a:xfrm>
        </p:grpSpPr>
        <p:pic>
          <p:nvPicPr>
            <p:cNvPr id="193" name="Google Shape;193;p36"/>
            <p:cNvPicPr preferRelativeResize="0"/>
            <p:nvPr/>
          </p:nvPicPr>
          <p:blipFill rotWithShape="1">
            <a:blip r:embed="rId2">
              <a:alphaModFix/>
            </a:blip>
            <a:srcRect l="-30550" t="-21349" r="30550" b="21350"/>
            <a:stretch/>
          </p:blipFill>
          <p:spPr>
            <a:xfrm>
              <a:off x="7224675" y="-1465300"/>
              <a:ext cx="3571874" cy="3555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42416" y="261250"/>
              <a:ext cx="1000659" cy="51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82553" y="972824"/>
              <a:ext cx="1344325" cy="116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87441" y="936059"/>
              <a:ext cx="875027" cy="8921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TWO_COLUMNS_1_4_1_2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37"/>
          <p:cNvGrpSpPr/>
          <p:nvPr/>
        </p:nvGrpSpPr>
        <p:grpSpPr>
          <a:xfrm>
            <a:off x="-2235200" y="-616700"/>
            <a:ext cx="3571881" cy="3555501"/>
            <a:chOff x="-2235200" y="-616700"/>
            <a:chExt cx="3571881" cy="3555501"/>
          </a:xfrm>
        </p:grpSpPr>
        <p:pic>
          <p:nvPicPr>
            <p:cNvPr id="199" name="Google Shape;199;p3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38484" y="376937"/>
              <a:ext cx="1344325" cy="116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235200" y="-616700"/>
              <a:ext cx="3571874" cy="3555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7300" y="202150"/>
              <a:ext cx="839381" cy="803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37"/>
          <p:cNvGrpSpPr/>
          <p:nvPr/>
        </p:nvGrpSpPr>
        <p:grpSpPr>
          <a:xfrm>
            <a:off x="8184066" y="2360800"/>
            <a:ext cx="3730958" cy="3555501"/>
            <a:chOff x="8184066" y="2360800"/>
            <a:chExt cx="3730958" cy="3555501"/>
          </a:xfrm>
        </p:grpSpPr>
        <p:pic>
          <p:nvPicPr>
            <p:cNvPr id="203" name="Google Shape;20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343150" y="2360800"/>
              <a:ext cx="3571874" cy="3555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3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184066" y="4024912"/>
              <a:ext cx="1344325" cy="116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475650" y="3686975"/>
              <a:ext cx="588600" cy="618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888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efin Sans"/>
              <a:buNone/>
              <a:defRPr sz="36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efin Sans"/>
              <a:buNone/>
              <a:defRPr sz="36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efin Sans"/>
              <a:buNone/>
              <a:defRPr sz="36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efin Sans"/>
              <a:buNone/>
              <a:defRPr sz="36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efin Sans"/>
              <a:buNone/>
              <a:defRPr sz="36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efin Sans"/>
              <a:buNone/>
              <a:defRPr sz="36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efin Sans"/>
              <a:buNone/>
              <a:defRPr sz="36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efin Sans"/>
              <a:buNone/>
              <a:defRPr sz="36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efin Sans"/>
              <a:buNone/>
              <a:defRPr sz="36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352600"/>
            <a:ext cx="7717500" cy="3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Char char="●"/>
              <a:defRPr sz="16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Char char="○"/>
              <a:defRPr sz="16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Char char="■"/>
              <a:defRPr sz="16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Char char="●"/>
              <a:defRPr sz="16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Char char="○"/>
              <a:defRPr sz="16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Char char="■"/>
              <a:defRPr sz="16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Char char="●"/>
              <a:defRPr sz="16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Char char="○"/>
              <a:defRPr sz="16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Char char="■"/>
              <a:defRPr sz="1600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60" r:id="rId5"/>
    <p:sldLayoutId id="2147483663" r:id="rId6"/>
    <p:sldLayoutId id="2147483666" r:id="rId7"/>
    <p:sldLayoutId id="2147483667" r:id="rId8"/>
    <p:sldLayoutId id="2147483668" r:id="rId9"/>
    <p:sldLayoutId id="2147483673" r:id="rId10"/>
    <p:sldLayoutId id="2147483678" r:id="rId11"/>
    <p:sldLayoutId id="2147483681" r:id="rId12"/>
    <p:sldLayoutId id="2147483682" r:id="rId13"/>
    <p:sldLayoutId id="214748368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4.jp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jpe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1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125" y="-889800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090600" y="2991075"/>
            <a:ext cx="3571874" cy="35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1"/>
          <p:cNvSpPr txBox="1">
            <a:spLocks noGrp="1"/>
          </p:cNvSpPr>
          <p:nvPr>
            <p:ph type="ctrTitle"/>
          </p:nvPr>
        </p:nvSpPr>
        <p:spPr>
          <a:xfrm>
            <a:off x="-634374" y="147057"/>
            <a:ext cx="9722749" cy="13072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D.Y PATIL COLLEGE OF ENGINEERING &amp; TECHNOLOGY</a:t>
            </a:r>
            <a:endParaRPr sz="2400" dirty="0">
              <a:solidFill>
                <a:schemeClr val="dk2"/>
              </a:solidFill>
            </a:endParaRPr>
          </a:p>
        </p:txBody>
      </p:sp>
      <p:sp>
        <p:nvSpPr>
          <p:cNvPr id="219" name="Google Shape;219;p41"/>
          <p:cNvSpPr txBox="1">
            <a:spLocks noGrp="1"/>
          </p:cNvSpPr>
          <p:nvPr>
            <p:ph type="subTitle" idx="1"/>
          </p:nvPr>
        </p:nvSpPr>
        <p:spPr>
          <a:xfrm>
            <a:off x="-110857" y="1259123"/>
            <a:ext cx="7350010" cy="3597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Josefin Sans" pitchFamily="2" charset="0"/>
              </a:rPr>
              <a:t>Title</a:t>
            </a:r>
            <a:r>
              <a:rPr lang="en-US" sz="2000" dirty="0">
                <a:latin typeface="Josefin Sans" pitchFamily="2" charset="0"/>
              </a:rPr>
              <a:t>:</a:t>
            </a:r>
            <a:r>
              <a:rPr lang="en-US" sz="1400" dirty="0">
                <a:latin typeface="Josefin Sans" pitchFamily="2" charset="0"/>
              </a:rPr>
              <a:t> </a:t>
            </a:r>
            <a:r>
              <a:rPr lang="en-US" sz="1400" u="sng" dirty="0">
                <a:latin typeface="Josefin Sans" pitchFamily="2" charset="0"/>
              </a:rPr>
              <a:t>Student Result Management System using C</a:t>
            </a:r>
            <a:r>
              <a:rPr lang="en-US" sz="1400" dirty="0">
                <a:latin typeface="Josefin Sans" pitchFamily="2" charset="0"/>
              </a:rPr>
              <a:t>++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Josefin Sans" pitchFamily="2" charset="0"/>
              </a:rPr>
              <a:t>Subtitle</a:t>
            </a:r>
            <a:r>
              <a:rPr lang="en-US" sz="1800" dirty="0">
                <a:latin typeface="Josefin Sans" pitchFamily="2" charset="0"/>
              </a:rPr>
              <a:t>: </a:t>
            </a:r>
            <a:r>
              <a:rPr lang="en-US" sz="1400" u="sng" dirty="0">
                <a:latin typeface="Josefin Sans" pitchFamily="2" charset="0"/>
              </a:rPr>
              <a:t>A C++ Based Application for Efficient Student Record Management.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Josefin Sans" pitchFamily="2" charset="0"/>
              </a:rPr>
              <a:t>Presented by</a:t>
            </a:r>
            <a:r>
              <a:rPr lang="en-US" sz="1600" dirty="0">
                <a:latin typeface="Josefin Sans" pitchFamily="2" charset="0"/>
              </a:rPr>
              <a:t>: </a:t>
            </a:r>
          </a:p>
          <a:p>
            <a:pPr marL="127000" indent="0" algn="ctr"/>
            <a:r>
              <a:rPr lang="en-US" sz="1400" dirty="0">
                <a:latin typeface="Josefin Sans" pitchFamily="2" charset="0"/>
              </a:rPr>
              <a:t>	</a:t>
            </a:r>
          </a:p>
        </p:txBody>
      </p:sp>
      <p:pic>
        <p:nvPicPr>
          <p:cNvPr id="222" name="Google Shape;22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85820">
            <a:off x="-3798" y="4046995"/>
            <a:ext cx="1797025" cy="169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298734">
            <a:off x="7354093" y="3741069"/>
            <a:ext cx="1775043" cy="1600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6699" y="143131"/>
            <a:ext cx="588600" cy="6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8736" y="4490606"/>
            <a:ext cx="839381" cy="8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B5128C-6951-9BED-2F4B-04CCF722DD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7012" y="647478"/>
            <a:ext cx="2206128" cy="18807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8BE393-939A-71E8-1AAC-72A0E0111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91186"/>
              </p:ext>
            </p:extLst>
          </p:nvPr>
        </p:nvGraphicFramePr>
        <p:xfrm>
          <a:off x="2190540" y="2957277"/>
          <a:ext cx="4928717" cy="1854200"/>
        </p:xfrm>
        <a:graphic>
          <a:graphicData uri="http://schemas.openxmlformats.org/drawingml/2006/table">
            <a:tbl>
              <a:tblPr firstRow="1" bandRow="1">
                <a:tableStyleId>{4F81ABDE-81AE-4128-9D1C-D56AFF6AB158}</a:tableStyleId>
              </a:tblPr>
              <a:tblGrid>
                <a:gridCol w="2343761">
                  <a:extLst>
                    <a:ext uri="{9D8B030D-6E8A-4147-A177-3AD203B41FA5}">
                      <a16:colId xmlns:a16="http://schemas.microsoft.com/office/drawing/2014/main" val="246532368"/>
                    </a:ext>
                  </a:extLst>
                </a:gridCol>
                <a:gridCol w="2584956">
                  <a:extLst>
                    <a:ext uri="{9D8B030D-6E8A-4147-A177-3AD203B41FA5}">
                      <a16:colId xmlns:a16="http://schemas.microsoft.com/office/drawing/2014/main" val="1199540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Roll.No</a:t>
                      </a:r>
                      <a:endParaRPr lang="en-IN" dirty="0">
                        <a:solidFill>
                          <a:schemeClr val="bg2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Names</a:t>
                      </a:r>
                      <a:endParaRPr lang="en-IN" dirty="0">
                        <a:solidFill>
                          <a:schemeClr val="bg2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82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81</a:t>
                      </a:r>
                      <a:endParaRPr lang="en-IN" b="1" dirty="0">
                        <a:solidFill>
                          <a:schemeClr val="bg2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Mrinal </a:t>
                      </a:r>
                      <a:r>
                        <a:rPr lang="en-US" b="1" dirty="0" err="1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Patole</a:t>
                      </a:r>
                      <a:endParaRPr lang="en-IN" b="1" dirty="0">
                        <a:solidFill>
                          <a:schemeClr val="bg2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490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83</a:t>
                      </a:r>
                      <a:endParaRPr lang="en-IN" b="1" dirty="0">
                        <a:solidFill>
                          <a:schemeClr val="bg2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Reeya Jadhav</a:t>
                      </a:r>
                      <a:endParaRPr lang="en-IN" b="1" dirty="0">
                        <a:solidFill>
                          <a:schemeClr val="bg2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96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95</a:t>
                      </a:r>
                      <a:endParaRPr lang="en-IN" b="1" dirty="0">
                        <a:solidFill>
                          <a:schemeClr val="bg2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Shivam Patil</a:t>
                      </a:r>
                      <a:endParaRPr lang="en-IN" b="1" dirty="0">
                        <a:solidFill>
                          <a:schemeClr val="bg2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0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97</a:t>
                      </a:r>
                      <a:endParaRPr lang="en-IN" b="1" dirty="0">
                        <a:solidFill>
                          <a:schemeClr val="bg2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Pranav Patil</a:t>
                      </a:r>
                      <a:endParaRPr lang="en-IN" b="1" dirty="0">
                        <a:solidFill>
                          <a:schemeClr val="bg2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20621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>
            <a:spLocks noGrp="1"/>
          </p:cNvSpPr>
          <p:nvPr>
            <p:ph type="title"/>
          </p:nvPr>
        </p:nvSpPr>
        <p:spPr>
          <a:xfrm>
            <a:off x="639614" y="194934"/>
            <a:ext cx="7719300" cy="530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CONTENTS</a:t>
            </a:r>
            <a:endParaRPr u="sng" dirty="0"/>
          </a:p>
        </p:txBody>
      </p:sp>
      <p:sp>
        <p:nvSpPr>
          <p:cNvPr id="4" name="Google Shape;324;p48">
            <a:extLst>
              <a:ext uri="{FF2B5EF4-FFF2-40B4-BE49-F238E27FC236}">
                <a16:creationId xmlns:a16="http://schemas.microsoft.com/office/drawing/2014/main" id="{9B50A1CD-692A-1BA4-5058-43B554E6177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11257" y="376186"/>
            <a:ext cx="5112898" cy="5525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lnSpc>
                <a:spcPct val="200000"/>
              </a:lnSpc>
              <a:buNone/>
            </a:pPr>
            <a:endParaRPr lang="en-US" sz="1200" b="1" dirty="0">
              <a:latin typeface="Bookman Old Style" panose="02050604050505020204" pitchFamily="18" charset="0"/>
            </a:endParaRP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1. Title Slide</a:t>
            </a: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2. Introduction</a:t>
            </a: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3. Problem Statement &amp; Objectives</a:t>
            </a: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4. System Design</a:t>
            </a: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5. Description of Modules</a:t>
            </a: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6. Software &amp; Hardware Requirements</a:t>
            </a: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7. Result Analysis</a:t>
            </a: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8. Comparison of Proposed System  with Existing System</a:t>
            </a: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9. Conclusion</a:t>
            </a: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10. Future Scope</a:t>
            </a:r>
          </a:p>
          <a:p>
            <a:pPr marL="127000" indent="0">
              <a:lnSpc>
                <a:spcPct val="200000"/>
              </a:lnSpc>
              <a:buNone/>
            </a:pPr>
            <a:r>
              <a:rPr lang="en-US" sz="1200" b="1" dirty="0">
                <a:latin typeface="Bookman Old Style" panose="02050604050505020204" pitchFamily="18" charset="0"/>
              </a:rPr>
              <a:t>11. References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>
            <a:spLocks noGrp="1"/>
          </p:cNvSpPr>
          <p:nvPr>
            <p:ph type="title"/>
          </p:nvPr>
        </p:nvSpPr>
        <p:spPr>
          <a:xfrm>
            <a:off x="709624" y="475488"/>
            <a:ext cx="4084200" cy="530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INTRODUCTION</a:t>
            </a:r>
            <a:endParaRPr u="sng" dirty="0"/>
          </a:p>
        </p:txBody>
      </p:sp>
      <p:pic>
        <p:nvPicPr>
          <p:cNvPr id="262" name="Google Shape;26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987" y="1167725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25" y="2469463"/>
            <a:ext cx="3408968" cy="114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40281">
            <a:off x="735446" y="2410897"/>
            <a:ext cx="3408965" cy="129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71486" y="1704051"/>
            <a:ext cx="1026100" cy="2336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07288" y="2577850"/>
            <a:ext cx="1001075" cy="225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02400" y="3258525"/>
            <a:ext cx="839381" cy="8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65300" y="3586366"/>
            <a:ext cx="704744" cy="7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52A168-03E0-FAAC-20B6-DFFCB548F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84322" y="881345"/>
            <a:ext cx="396262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latin typeface="Berlin Sans FB" panose="020E0602020502020306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Berlin Sans FB" panose="020E0602020502020306" pitchFamily="34" charset="0"/>
              </a:rPr>
              <a:t>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latin typeface="Californian FB" panose="0207040306080B030204" pitchFamily="18" charset="0"/>
              </a:rPr>
              <a:t>Student Management System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alifornian FB" panose="0207040306080B030204" pitchFamily="18" charset="0"/>
              </a:rPr>
              <a:t>To Manage Student Records.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alifornian FB" panose="0207040306080B030204" pitchFamily="18" charset="0"/>
              </a:rPr>
              <a:t>   Functions To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latin typeface="Californian FB" panose="0207040306080B030204" pitchFamily="18" charset="0"/>
              </a:rPr>
              <a:t>Add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latin typeface="Californian FB" panose="0207040306080B030204" pitchFamily="18" charset="0"/>
              </a:rPr>
              <a:t>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latin typeface="Californian FB" panose="0207040306080B030204" pitchFamily="18" charset="0"/>
              </a:rPr>
              <a:t>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latin typeface="Californian FB" panose="0207040306080B030204" pitchFamily="18" charset="0"/>
              </a:rPr>
              <a:t>, And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latin typeface="Californian FB" panose="0207040306080B030204" pitchFamily="18" charset="0"/>
              </a:rPr>
              <a:t>Delete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latin typeface="Californian FB" panose="0207040306080B030204" pitchFamily="18" charset="0"/>
              </a:rPr>
              <a:t>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alifornian FB" panose="0207040306080B0302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alifornian FB" panose="0207040306080B030204" pitchFamily="18" charset="0"/>
              </a:rPr>
              <a:t>  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latin typeface="Californian FB" panose="0207040306080B030204" pitchFamily="18" charset="0"/>
              </a:rPr>
              <a:t>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latin typeface="Californian FB" panose="0207040306080B030204" pitchFamily="18" charset="0"/>
              </a:rPr>
              <a:t>++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latin typeface="Californian FB" panose="0207040306080B0302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alifornian FB" panose="0207040306080B030204" pitchFamily="18" charset="0"/>
              </a:rPr>
              <a:t>And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latin typeface="Californian FB" panose="0207040306080B030204" pitchFamily="18" charset="0"/>
              </a:rPr>
              <a:t>File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latin typeface="Californian FB" panose="0207040306080B0302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latin typeface="Californian FB" panose="0207040306080B030204" pitchFamily="18" charset="0"/>
              </a:rPr>
              <a:t>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latin typeface="Californian FB" panose="0207040306080B0302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alifornian FB" panose="0207040306080B030204" pitchFamily="18" charset="0"/>
              </a:rPr>
              <a:t>For Storing Data.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A5F389-8D05-548E-0012-1B23DEC00A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052" y="1426866"/>
            <a:ext cx="4084200" cy="34530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59">
          <a:extLst>
            <a:ext uri="{FF2B5EF4-FFF2-40B4-BE49-F238E27FC236}">
              <a16:creationId xmlns:a16="http://schemas.microsoft.com/office/drawing/2014/main" id="{67C13D74-FE85-F1DF-6EE1-20AFAFF7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19229-36CA-868F-7AF6-6DFEBFE3B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373" y="1063441"/>
            <a:ext cx="8365253" cy="3724598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sz="2000" b="1" u="sng" dirty="0">
                <a:solidFill>
                  <a:srgbClr val="FF0000"/>
                </a:solidFill>
                <a:latin typeface="Californian FB" panose="0207040306080B030204" pitchFamily="18" charset="0"/>
              </a:rPr>
              <a:t>Existing System with Drawbacks:</a:t>
            </a:r>
          </a:p>
          <a:p>
            <a:pPr lvl="1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fornian FB" panose="0207040306080B030204" pitchFamily="18" charset="0"/>
              </a:rPr>
              <a:t>Current systems often require complex setup and maintenance.</a:t>
            </a:r>
          </a:p>
          <a:p>
            <a:pPr lvl="1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fornian FB" panose="0207040306080B030204" pitchFamily="18" charset="0"/>
              </a:rPr>
              <a:t>Requires databases or servers, making it harder for small institutions.</a:t>
            </a:r>
          </a:p>
          <a:p>
            <a:pPr algn="just">
              <a:lnSpc>
                <a:spcPct val="200000"/>
              </a:lnSpc>
            </a:pPr>
            <a:r>
              <a:rPr lang="en-US" sz="2000" b="1" u="sng" dirty="0">
                <a:solidFill>
                  <a:srgbClr val="FFFF00"/>
                </a:solidFill>
                <a:latin typeface="Californian FB" panose="0207040306080B030204" pitchFamily="18" charset="0"/>
              </a:rPr>
              <a:t>Why This Project? </a:t>
            </a:r>
          </a:p>
          <a:p>
            <a:pPr lvl="1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fornian FB" panose="0207040306080B030204" pitchFamily="18" charset="0"/>
              </a:rPr>
              <a:t>Offers a simpler solution with file-based storage.</a:t>
            </a:r>
          </a:p>
          <a:p>
            <a:pPr lvl="1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fornian FB" panose="0207040306080B030204" pitchFamily="18" charset="0"/>
              </a:rPr>
              <a:t>Easy to use and maintain, ideal for small institutions.</a:t>
            </a:r>
          </a:p>
          <a:p>
            <a:pPr algn="just">
              <a:lnSpc>
                <a:spcPct val="200000"/>
              </a:lnSpc>
            </a:pPr>
            <a:endParaRPr lang="en-IN" sz="1600" dirty="0">
              <a:latin typeface="Californian FB" panose="0207040306080B030204" pitchFamily="18" charset="0"/>
            </a:endParaRPr>
          </a:p>
        </p:txBody>
      </p:sp>
      <p:sp>
        <p:nvSpPr>
          <p:cNvPr id="2" name="Google Shape;260;p44">
            <a:extLst>
              <a:ext uri="{FF2B5EF4-FFF2-40B4-BE49-F238E27FC236}">
                <a16:creationId xmlns:a16="http://schemas.microsoft.com/office/drawing/2014/main" id="{D9517F4F-AD2C-29A4-C6E2-30E60790FF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4600" y="475488"/>
            <a:ext cx="4084200" cy="530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INTRODUCTION</a:t>
            </a: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326727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>
            <a:spLocks noGrp="1"/>
          </p:cNvSpPr>
          <p:nvPr>
            <p:ph type="title"/>
          </p:nvPr>
        </p:nvSpPr>
        <p:spPr>
          <a:xfrm>
            <a:off x="596564" y="301025"/>
            <a:ext cx="6100662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PROBLEM STATEMENT:</a:t>
            </a:r>
            <a:endParaRPr u="sng" dirty="0"/>
          </a:p>
        </p:txBody>
      </p:sp>
      <p:sp>
        <p:nvSpPr>
          <p:cNvPr id="324" name="Google Shape;324;p48"/>
          <p:cNvSpPr txBox="1">
            <a:spLocks noGrp="1"/>
          </p:cNvSpPr>
          <p:nvPr>
            <p:ph type="subTitle" idx="1"/>
          </p:nvPr>
        </p:nvSpPr>
        <p:spPr>
          <a:xfrm>
            <a:off x="321547" y="1462035"/>
            <a:ext cx="4803996" cy="31083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fornian FB" panose="0207040306080B030204" pitchFamily="18" charset="0"/>
              </a:rPr>
              <a:t>Schools use manual methods for student records, which is </a:t>
            </a:r>
            <a:r>
              <a:rPr lang="en-US" sz="1800" dirty="0">
                <a:solidFill>
                  <a:srgbClr val="FFC000"/>
                </a:solidFill>
                <a:latin typeface="Californian FB" panose="0207040306080B030204" pitchFamily="18" charset="0"/>
              </a:rPr>
              <a:t>inefficient</a:t>
            </a:r>
            <a:r>
              <a:rPr lang="en-US" sz="1800" dirty="0">
                <a:latin typeface="Californian FB" panose="0207040306080B030204" pitchFamily="18" charset="0"/>
              </a:rPr>
              <a:t>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fornian FB" panose="0207040306080B030204" pitchFamily="18" charset="0"/>
              </a:rPr>
              <a:t>Current systems are too complex for small schools.</a:t>
            </a:r>
          </a:p>
        </p:txBody>
      </p:sp>
      <p:pic>
        <p:nvPicPr>
          <p:cNvPr id="325" name="Google Shape;32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261471" flipH="1">
            <a:off x="5047833" y="2151715"/>
            <a:ext cx="3408966" cy="114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875" y="2851025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458000" y="-966100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647149" y="3015604"/>
            <a:ext cx="2244101" cy="15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357931" y="1020659"/>
            <a:ext cx="875027" cy="892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8080493" y="3558300"/>
            <a:ext cx="839381" cy="8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767547" flipH="1">
            <a:off x="6220112" y="1339688"/>
            <a:ext cx="1026100" cy="2336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>
          <a:extLst>
            <a:ext uri="{FF2B5EF4-FFF2-40B4-BE49-F238E27FC236}">
              <a16:creationId xmlns:a16="http://schemas.microsoft.com/office/drawing/2014/main" id="{F71A780E-0726-423F-827E-0439D229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>
            <a:extLst>
              <a:ext uri="{FF2B5EF4-FFF2-40B4-BE49-F238E27FC236}">
                <a16:creationId xmlns:a16="http://schemas.microsoft.com/office/drawing/2014/main" id="{4A2F8730-C214-4ED4-7C18-0A7320EEE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912" y="433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u="sng" dirty="0"/>
              <a:t>OBJECTIVES</a:t>
            </a:r>
          </a:p>
        </p:txBody>
      </p:sp>
      <p:sp>
        <p:nvSpPr>
          <p:cNvPr id="324" name="Google Shape;324;p48">
            <a:extLst>
              <a:ext uri="{FF2B5EF4-FFF2-40B4-BE49-F238E27FC236}">
                <a16:creationId xmlns:a16="http://schemas.microsoft.com/office/drawing/2014/main" id="{3638A7E1-248E-1CA8-2CDD-FD4C753A189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3258" y="827037"/>
            <a:ext cx="5330720" cy="41067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alifornian FB" panose="0207040306080B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Create a simple system for managing student records.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 Allow users to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alifornian FB" panose="0207040306080B030204" pitchFamily="18" charset="0"/>
              </a:rPr>
              <a:t>add, view, and delete records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  Automatically calculate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alifornian FB" panose="0207040306080B030204" pitchFamily="18" charset="0"/>
              </a:rPr>
              <a:t> total marks, percentage, and grade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  Store data in text files for easy access. </a:t>
            </a:r>
          </a:p>
        </p:txBody>
      </p:sp>
      <p:pic>
        <p:nvPicPr>
          <p:cNvPr id="325" name="Google Shape;325;p48">
            <a:extLst>
              <a:ext uri="{FF2B5EF4-FFF2-40B4-BE49-F238E27FC236}">
                <a16:creationId xmlns:a16="http://schemas.microsoft.com/office/drawing/2014/main" id="{12B90641-4700-3E66-F092-4DDF76D0C9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261471" flipH="1">
            <a:off x="5344260" y="2232837"/>
            <a:ext cx="3408966" cy="114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8">
            <a:extLst>
              <a:ext uri="{FF2B5EF4-FFF2-40B4-BE49-F238E27FC236}">
                <a16:creationId xmlns:a16="http://schemas.microsoft.com/office/drawing/2014/main" id="{9E486F7F-5017-32D8-1052-C9739BF674B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875" y="2851025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8">
            <a:extLst>
              <a:ext uri="{FF2B5EF4-FFF2-40B4-BE49-F238E27FC236}">
                <a16:creationId xmlns:a16="http://schemas.microsoft.com/office/drawing/2014/main" id="{7F0AC738-E23E-6387-3341-1010FE4D693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575074" y="-977038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8">
            <a:extLst>
              <a:ext uri="{FF2B5EF4-FFF2-40B4-BE49-F238E27FC236}">
                <a16:creationId xmlns:a16="http://schemas.microsoft.com/office/drawing/2014/main" id="{6CA0E5CB-3A1C-ACB0-BEEA-8443BC9A9EE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052479" y="2780440"/>
            <a:ext cx="2244101" cy="15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8">
            <a:extLst>
              <a:ext uri="{FF2B5EF4-FFF2-40B4-BE49-F238E27FC236}">
                <a16:creationId xmlns:a16="http://schemas.microsoft.com/office/drawing/2014/main" id="{9885D3E6-33ED-1163-74D4-3D119F332EE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8033504" y="4335265"/>
            <a:ext cx="839381" cy="8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8">
            <a:extLst>
              <a:ext uri="{FF2B5EF4-FFF2-40B4-BE49-F238E27FC236}">
                <a16:creationId xmlns:a16="http://schemas.microsoft.com/office/drawing/2014/main" id="{4EF69AFD-D27B-7716-24E9-4DC3BE5EE84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767547" flipH="1">
            <a:off x="7028647" y="941136"/>
            <a:ext cx="1026100" cy="23364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6269351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/>
          <p:cNvSpPr txBox="1">
            <a:spLocks noGrp="1"/>
          </p:cNvSpPr>
          <p:nvPr>
            <p:ph type="title"/>
          </p:nvPr>
        </p:nvSpPr>
        <p:spPr>
          <a:xfrm>
            <a:off x="3971710" y="238593"/>
            <a:ext cx="4656076" cy="7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u="sng" dirty="0"/>
              <a:t>SYSTEM DESIGN</a:t>
            </a:r>
          </a:p>
        </p:txBody>
      </p:sp>
      <p:sp>
        <p:nvSpPr>
          <p:cNvPr id="353" name="Google Shape;353;p50"/>
          <p:cNvSpPr txBox="1">
            <a:spLocks noGrp="1"/>
          </p:cNvSpPr>
          <p:nvPr>
            <p:ph type="subTitle" idx="1"/>
          </p:nvPr>
        </p:nvSpPr>
        <p:spPr>
          <a:xfrm>
            <a:off x="4618939" y="1126600"/>
            <a:ext cx="4395218" cy="35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00"/>
                </a:solidFill>
                <a:latin typeface="Californian FB" panose="0207040306080B030204" pitchFamily="18" charset="0"/>
              </a:rPr>
              <a:t>Input</a:t>
            </a:r>
            <a:r>
              <a:rPr lang="en-US" sz="1800" dirty="0">
                <a:latin typeface="Californian FB" panose="0207040306080B030204" pitchFamily="18" charset="0"/>
              </a:rPr>
              <a:t>: Student details (name, roll number, marks).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00"/>
                </a:solidFill>
                <a:latin typeface="Californian FB" panose="0207040306080B030204" pitchFamily="18" charset="0"/>
              </a:rPr>
              <a:t>Processing</a:t>
            </a:r>
            <a:r>
              <a:rPr lang="en-US" sz="1800" dirty="0">
                <a:latin typeface="Californian FB" panose="0207040306080B030204" pitchFamily="18" charset="0"/>
              </a:rPr>
              <a:t>: Calculate total, percentage, assign grades.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00"/>
                </a:solidFill>
                <a:latin typeface="Californian FB" panose="0207040306080B030204" pitchFamily="18" charset="0"/>
              </a:rPr>
              <a:t>Output</a:t>
            </a:r>
            <a:r>
              <a:rPr lang="en-US" sz="1800" dirty="0">
                <a:latin typeface="Californian FB" panose="0207040306080B030204" pitchFamily="18" charset="0"/>
              </a:rPr>
              <a:t>: Display records and save in a text file.</a:t>
            </a:r>
          </a:p>
        </p:txBody>
      </p:sp>
      <p:pic>
        <p:nvPicPr>
          <p:cNvPr id="354" name="Google Shape;35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47065" y="2914736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25" y="-902250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Input-Process and Output Concept of the computer|A computer accepts data,  processes data, generates output, and stores data">
            <a:extLst>
              <a:ext uri="{FF2B5EF4-FFF2-40B4-BE49-F238E27FC236}">
                <a16:creationId xmlns:a16="http://schemas.microsoft.com/office/drawing/2014/main" id="{20C74614-1D3C-657A-EDD4-7BAFA95D0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30" y="1998142"/>
            <a:ext cx="3878704" cy="157170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1"/>
          <p:cNvSpPr txBox="1">
            <a:spLocks noGrp="1"/>
          </p:cNvSpPr>
          <p:nvPr>
            <p:ph type="title"/>
          </p:nvPr>
        </p:nvSpPr>
        <p:spPr>
          <a:xfrm>
            <a:off x="713225" y="475488"/>
            <a:ext cx="7726800" cy="530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u="sng" dirty="0"/>
              <a:t>FLOWCHART</a:t>
            </a:r>
          </a:p>
        </p:txBody>
      </p:sp>
      <p:pic>
        <p:nvPicPr>
          <p:cNvPr id="402" name="Google Shape;40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96350" y="3029925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5909" y="4251309"/>
            <a:ext cx="875027" cy="892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57919" y="4769348"/>
            <a:ext cx="1344325" cy="11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175" y="-1983500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7725" y="317141"/>
            <a:ext cx="704744" cy="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5703" y="-279401"/>
            <a:ext cx="1344325" cy="11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B5AB86-99A5-2004-1B47-24813298AD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7011" y="1245213"/>
            <a:ext cx="6219930" cy="369014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2"/>
          <p:cNvSpPr txBox="1">
            <a:spLocks noGrp="1"/>
          </p:cNvSpPr>
          <p:nvPr>
            <p:ph type="title"/>
          </p:nvPr>
        </p:nvSpPr>
        <p:spPr>
          <a:xfrm>
            <a:off x="713225" y="123395"/>
            <a:ext cx="7717500" cy="11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u="sng" dirty="0"/>
              <a:t>Description of Modules</a:t>
            </a:r>
            <a:endParaRPr u="sng" dirty="0"/>
          </a:p>
        </p:txBody>
      </p:sp>
      <p:sp>
        <p:nvSpPr>
          <p:cNvPr id="421" name="Google Shape;421;p52"/>
          <p:cNvSpPr txBox="1">
            <a:spLocks noGrp="1"/>
          </p:cNvSpPr>
          <p:nvPr>
            <p:ph type="subTitle" idx="1"/>
          </p:nvPr>
        </p:nvSpPr>
        <p:spPr>
          <a:xfrm>
            <a:off x="178572" y="1141673"/>
            <a:ext cx="2896405" cy="4035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fornian FB" panose="0207040306080B030204" pitchFamily="18" charset="0"/>
              </a:rPr>
              <a:t>Input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 Student details and marks.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alifornian FB" panose="0207040306080B030204" pitchFamily="18" charset="0"/>
              </a:rPr>
              <a:t>Processing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 Calculate total marks and percentage, assign grades.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alifornian FB" panose="0207040306080B030204" pitchFamily="18" charset="0"/>
              </a:rPr>
              <a:t>Output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 Save data to studentresult.txt. </a:t>
            </a:r>
          </a:p>
        </p:txBody>
      </p:sp>
      <p:sp>
        <p:nvSpPr>
          <p:cNvPr id="422" name="Google Shape;422;p52"/>
          <p:cNvSpPr txBox="1">
            <a:spLocks noGrp="1"/>
          </p:cNvSpPr>
          <p:nvPr>
            <p:ph type="subTitle" idx="2"/>
          </p:nvPr>
        </p:nvSpPr>
        <p:spPr>
          <a:xfrm>
            <a:off x="6487034" y="1156374"/>
            <a:ext cx="2702183" cy="3943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fornian FB" panose="0207040306080B030204" pitchFamily="18" charset="0"/>
              </a:rPr>
              <a:t>Input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 Roll number of student to delete.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Californian FB" panose="0207040306080B030204" pitchFamily="18" charset="0"/>
              </a:rPr>
              <a:t>Processing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 Search for the student and delete if found.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alifornian FB" panose="0207040306080B030204" pitchFamily="18" charset="0"/>
              </a:rPr>
              <a:t>Output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 Display success or failure message. </a:t>
            </a:r>
          </a:p>
        </p:txBody>
      </p:sp>
      <p:sp>
        <p:nvSpPr>
          <p:cNvPr id="423" name="Google Shape;423;p52"/>
          <p:cNvSpPr txBox="1">
            <a:spLocks noGrp="1"/>
          </p:cNvSpPr>
          <p:nvPr>
            <p:ph type="subTitle" idx="3"/>
          </p:nvPr>
        </p:nvSpPr>
        <p:spPr>
          <a:xfrm>
            <a:off x="6854359" y="941703"/>
            <a:ext cx="1934454" cy="4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/>
              <a:t>Delete Module:</a:t>
            </a:r>
            <a:endParaRPr dirty="0"/>
          </a:p>
        </p:txBody>
      </p:sp>
      <p:sp>
        <p:nvSpPr>
          <p:cNvPr id="424" name="Google Shape;424;p52"/>
          <p:cNvSpPr txBox="1">
            <a:spLocks noGrp="1"/>
          </p:cNvSpPr>
          <p:nvPr>
            <p:ph type="subTitle" idx="4"/>
          </p:nvPr>
        </p:nvSpPr>
        <p:spPr>
          <a:xfrm>
            <a:off x="355137" y="941703"/>
            <a:ext cx="2006740" cy="4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/>
              <a:t>Insert Module:</a:t>
            </a:r>
            <a:endParaRPr dirty="0"/>
          </a:p>
        </p:txBody>
      </p:sp>
      <p:sp>
        <p:nvSpPr>
          <p:cNvPr id="2" name="Google Shape;423;p52">
            <a:extLst>
              <a:ext uri="{FF2B5EF4-FFF2-40B4-BE49-F238E27FC236}">
                <a16:creationId xmlns:a16="http://schemas.microsoft.com/office/drawing/2014/main" id="{F5E72CE8-CC36-16D2-0EFE-2E2E5647DE0A}"/>
              </a:ext>
            </a:extLst>
          </p:cNvPr>
          <p:cNvSpPr txBox="1">
            <a:spLocks/>
          </p:cNvSpPr>
          <p:nvPr/>
        </p:nvSpPr>
        <p:spPr>
          <a:xfrm>
            <a:off x="3604748" y="947912"/>
            <a:ext cx="1934454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eko"/>
              <a:buNone/>
              <a:defRPr sz="1900" b="0" i="0" u="none" strike="noStrike" cap="non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N" dirty="0"/>
              <a:t>Display Module:</a:t>
            </a:r>
          </a:p>
        </p:txBody>
      </p:sp>
      <p:sp>
        <p:nvSpPr>
          <p:cNvPr id="4" name="Google Shape;422;p52">
            <a:extLst>
              <a:ext uri="{FF2B5EF4-FFF2-40B4-BE49-F238E27FC236}">
                <a16:creationId xmlns:a16="http://schemas.microsoft.com/office/drawing/2014/main" id="{4F3FCD67-4FE3-8F8D-A980-6C44258078CF}"/>
              </a:ext>
            </a:extLst>
          </p:cNvPr>
          <p:cNvSpPr txBox="1">
            <a:spLocks/>
          </p:cNvSpPr>
          <p:nvPr/>
        </p:nvSpPr>
        <p:spPr>
          <a:xfrm>
            <a:off x="3361737" y="1263638"/>
            <a:ext cx="2838538" cy="3712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4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rdo"/>
              <a:buNone/>
              <a:defRPr sz="1600" b="0" i="0" u="none" strike="noStrike" cap="none">
                <a:solidFill>
                  <a:schemeClr val="lt2"/>
                </a:solidFill>
                <a:latin typeface="Cardo"/>
                <a:ea typeface="Cardo"/>
                <a:cs typeface="Cardo"/>
                <a:sym typeface="Cardo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fornian FB" panose="0207040306080B030204" pitchFamily="18" charset="0"/>
              </a:rPr>
              <a:t>Input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 None (reads from file).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Californian FB" panose="0207040306080B030204" pitchFamily="18" charset="0"/>
              </a:rPr>
              <a:t>Processing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 Reads and displays student records.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alifornian FB" panose="0207040306080B030204" pitchFamily="18" charset="0"/>
              </a:rPr>
              <a:t>Output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 Display student records on the screen.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8650" y="-2040675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550" y="1297325"/>
            <a:ext cx="3571874" cy="35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7"/>
          <p:cNvSpPr txBox="1">
            <a:spLocks noGrp="1"/>
          </p:cNvSpPr>
          <p:nvPr>
            <p:ph type="title"/>
          </p:nvPr>
        </p:nvSpPr>
        <p:spPr>
          <a:xfrm>
            <a:off x="112282" y="113999"/>
            <a:ext cx="7245655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u="sng" dirty="0"/>
              <a:t>SOFTWARE &amp; HARDWARE REQUIREMENTS</a:t>
            </a:r>
          </a:p>
        </p:txBody>
      </p:sp>
      <p:sp>
        <p:nvSpPr>
          <p:cNvPr id="512" name="Google Shape;512;p57"/>
          <p:cNvSpPr txBox="1">
            <a:spLocks noGrp="1"/>
          </p:cNvSpPr>
          <p:nvPr>
            <p:ph type="subTitle" idx="1"/>
          </p:nvPr>
        </p:nvSpPr>
        <p:spPr>
          <a:xfrm>
            <a:off x="198755" y="923543"/>
            <a:ext cx="5430016" cy="3789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>
                <a:solidFill>
                  <a:srgbClr val="00B0F0"/>
                </a:solidFill>
                <a:latin typeface="Californian FB" panose="0207040306080B030204" pitchFamily="18" charset="0"/>
              </a:rPr>
              <a:t>Hardware Requirements: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fornian FB" panose="0207040306080B030204" pitchFamily="18" charset="0"/>
              </a:rPr>
              <a:t>Computer: Any PC or laptop (Windows/Linux).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fornian FB" panose="0207040306080B030204" pitchFamily="18" charset="0"/>
              </a:rPr>
              <a:t>Input/Output Devices: Keyboard and monitor.</a:t>
            </a:r>
          </a:p>
          <a:p>
            <a:pPr>
              <a:lnSpc>
                <a:spcPct val="200000"/>
              </a:lnSpc>
            </a:pPr>
            <a:r>
              <a:rPr lang="en-IN" sz="2000" b="1" dirty="0">
                <a:solidFill>
                  <a:srgbClr val="00B0F0"/>
                </a:solidFill>
                <a:latin typeface="Californian FB" panose="0207040306080B030204" pitchFamily="18" charset="0"/>
              </a:rPr>
              <a:t>Software Requirements: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fornian FB" panose="0207040306080B030204" pitchFamily="18" charset="0"/>
              </a:rPr>
              <a:t>C++ Compiler (MinGW, GCC).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fornian FB" panose="0207040306080B030204" pitchFamily="18" charset="0"/>
              </a:rPr>
              <a:t>IDE/Text Editor (Code::Blocks, Dev-C++).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7D8CE20-FDB6-ADC4-F9F5-823E74484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637" y="480328"/>
            <a:ext cx="984487" cy="103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Dev - C++ IDE - Download and install on Windows | Microsoft Store">
            <a:extLst>
              <a:ext uri="{FF2B5EF4-FFF2-40B4-BE49-F238E27FC236}">
                <a16:creationId xmlns:a16="http://schemas.microsoft.com/office/drawing/2014/main" id="{C75D3F08-6F64-896E-1084-47C22D61B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947" y="3193415"/>
            <a:ext cx="1449274" cy="133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UbuntuHandbook | Tag Archive | Code::Blocks IDE">
            <a:extLst>
              <a:ext uri="{FF2B5EF4-FFF2-40B4-BE49-F238E27FC236}">
                <a16:creationId xmlns:a16="http://schemas.microsoft.com/office/drawing/2014/main" id="{338551F7-1257-2397-07BC-62FC8B248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013" y="1180481"/>
            <a:ext cx="2275433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4A7D39A6-FD2B-90D2-4C14-590D733B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57">
            <a:extLst>
              <a:ext uri="{FF2B5EF4-FFF2-40B4-BE49-F238E27FC236}">
                <a16:creationId xmlns:a16="http://schemas.microsoft.com/office/drawing/2014/main" id="{7F2BEDC7-5A8F-17FA-00E2-2DE661ADFB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8650" y="-2040675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57">
            <a:extLst>
              <a:ext uri="{FF2B5EF4-FFF2-40B4-BE49-F238E27FC236}">
                <a16:creationId xmlns:a16="http://schemas.microsoft.com/office/drawing/2014/main" id="{5A084DCD-6EF4-330D-CB89-07DFB616C4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550" y="1297325"/>
            <a:ext cx="3571874" cy="35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7">
            <a:extLst>
              <a:ext uri="{FF2B5EF4-FFF2-40B4-BE49-F238E27FC236}">
                <a16:creationId xmlns:a16="http://schemas.microsoft.com/office/drawing/2014/main" id="{16E94006-C608-6586-A889-A4BE8DA17C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282" y="113999"/>
            <a:ext cx="5806197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 dirty="0"/>
              <a:t>LIBRARIES USED:</a:t>
            </a:r>
            <a:endParaRPr lang="en-IN" sz="6000" u="sng" dirty="0"/>
          </a:p>
        </p:txBody>
      </p:sp>
      <p:sp>
        <p:nvSpPr>
          <p:cNvPr id="512" name="Google Shape;512;p57">
            <a:extLst>
              <a:ext uri="{FF2B5EF4-FFF2-40B4-BE49-F238E27FC236}">
                <a16:creationId xmlns:a16="http://schemas.microsoft.com/office/drawing/2014/main" id="{D5D5E9DF-76AA-3FBE-29BC-6F363461DD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2956" y="939442"/>
            <a:ext cx="7730024" cy="3555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Californian FB" panose="0207040306080B030204" pitchFamily="18" charset="0"/>
              </a:rPr>
              <a:t>fstream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</a:t>
            </a:r>
            <a:r>
              <a:rPr kumimoji="0" lang="en-US" altLang="en-US" sz="3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For reading and writing student data to files.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	Used: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To store student records permanently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solidFill>
                  <a:schemeClr val="tx2"/>
                </a:solidFill>
                <a:latin typeface="Californian FB" panose="0207040306080B030204" pitchFamily="18" charset="0"/>
              </a:rPr>
              <a:t> </a:t>
            </a:r>
            <a:r>
              <a:rPr lang="en-US" altLang="en-US" sz="2000" b="1" dirty="0" err="1">
                <a:solidFill>
                  <a:srgbClr val="FFC000"/>
                </a:solidFill>
                <a:latin typeface="Californian FB" panose="0207040306080B030204" pitchFamily="18" charset="0"/>
              </a:rPr>
              <a:t>c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Californian FB" panose="0207040306080B030204" pitchFamily="18" charset="0"/>
              </a:rPr>
              <a:t>stdlib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For system commands like clearing screen and exiting program.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	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Used: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To manage user interface.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alifornian FB" panose="0207040306080B030204" pitchFamily="18" charset="0"/>
            </a:endParaRPr>
          </a:p>
        </p:txBody>
      </p:sp>
      <p:pic>
        <p:nvPicPr>
          <p:cNvPr id="515" name="Google Shape;515;p57">
            <a:extLst>
              <a:ext uri="{FF2B5EF4-FFF2-40B4-BE49-F238E27FC236}">
                <a16:creationId xmlns:a16="http://schemas.microsoft.com/office/drawing/2014/main" id="{3815E30A-26B8-791E-CC87-F7AE733B33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12106" b="-3741"/>
          <a:stretch/>
        </p:blipFill>
        <p:spPr>
          <a:xfrm>
            <a:off x="59537" y="3774767"/>
            <a:ext cx="1782850" cy="17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7">
            <a:extLst>
              <a:ext uri="{FF2B5EF4-FFF2-40B4-BE49-F238E27FC236}">
                <a16:creationId xmlns:a16="http://schemas.microsoft.com/office/drawing/2014/main" id="{25C6DD8C-5CB0-FFEB-47F2-E3A994745EE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298734">
            <a:off x="7243002" y="-99899"/>
            <a:ext cx="1775043" cy="1600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646264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3"/>
          <p:cNvSpPr txBox="1">
            <a:spLocks noGrp="1"/>
          </p:cNvSpPr>
          <p:nvPr>
            <p:ph type="title"/>
          </p:nvPr>
        </p:nvSpPr>
        <p:spPr>
          <a:xfrm>
            <a:off x="708600" y="381300"/>
            <a:ext cx="6763500" cy="12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u="sng" dirty="0"/>
              <a:t>RESULT ANALYSIS</a:t>
            </a:r>
          </a:p>
        </p:txBody>
      </p:sp>
      <p:sp>
        <p:nvSpPr>
          <p:cNvPr id="633" name="Google Shape;633;p63"/>
          <p:cNvSpPr/>
          <p:nvPr/>
        </p:nvSpPr>
        <p:spPr>
          <a:xfrm>
            <a:off x="8440089" y="539500"/>
            <a:ext cx="33" cy="1623713"/>
          </a:xfrm>
          <a:custGeom>
            <a:avLst/>
            <a:gdLst/>
            <a:ahLst/>
            <a:cxnLst/>
            <a:rect l="l" t="t" r="r" b="b"/>
            <a:pathLst>
              <a:path w="1" h="48556" fill="none" extrusionOk="0">
                <a:moveTo>
                  <a:pt x="0" y="0"/>
                </a:moveTo>
                <a:lnTo>
                  <a:pt x="0" y="48555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197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16619C-25F8-8DC5-6DCF-A8B0B708C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40" y="1157563"/>
            <a:ext cx="8284833" cy="2838421"/>
          </a:xfrm>
          <a:custGeom>
            <a:avLst/>
            <a:gdLst>
              <a:gd name="connsiteX0" fmla="*/ 0 w 8284833"/>
              <a:gd name="connsiteY0" fmla="*/ 0 h 2838421"/>
              <a:gd name="connsiteX1" fmla="*/ 674622 w 8284833"/>
              <a:gd name="connsiteY1" fmla="*/ 0 h 2838421"/>
              <a:gd name="connsiteX2" fmla="*/ 1266396 w 8284833"/>
              <a:gd name="connsiteY2" fmla="*/ 0 h 2838421"/>
              <a:gd name="connsiteX3" fmla="*/ 1775321 w 8284833"/>
              <a:gd name="connsiteY3" fmla="*/ 0 h 2838421"/>
              <a:gd name="connsiteX4" fmla="*/ 2118550 w 8284833"/>
              <a:gd name="connsiteY4" fmla="*/ 0 h 2838421"/>
              <a:gd name="connsiteX5" fmla="*/ 2710324 w 8284833"/>
              <a:gd name="connsiteY5" fmla="*/ 0 h 2838421"/>
              <a:gd name="connsiteX6" fmla="*/ 3136401 w 8284833"/>
              <a:gd name="connsiteY6" fmla="*/ 0 h 2838421"/>
              <a:gd name="connsiteX7" fmla="*/ 3562478 w 8284833"/>
              <a:gd name="connsiteY7" fmla="*/ 0 h 2838421"/>
              <a:gd name="connsiteX8" fmla="*/ 4154252 w 8284833"/>
              <a:gd name="connsiteY8" fmla="*/ 0 h 2838421"/>
              <a:gd name="connsiteX9" fmla="*/ 4911722 w 8284833"/>
              <a:gd name="connsiteY9" fmla="*/ 0 h 2838421"/>
              <a:gd name="connsiteX10" fmla="*/ 5586345 w 8284833"/>
              <a:gd name="connsiteY10" fmla="*/ 0 h 2838421"/>
              <a:gd name="connsiteX11" fmla="*/ 6343815 w 8284833"/>
              <a:gd name="connsiteY11" fmla="*/ 0 h 2838421"/>
              <a:gd name="connsiteX12" fmla="*/ 6935589 w 8284833"/>
              <a:gd name="connsiteY12" fmla="*/ 0 h 2838421"/>
              <a:gd name="connsiteX13" fmla="*/ 7527363 w 8284833"/>
              <a:gd name="connsiteY13" fmla="*/ 0 h 2838421"/>
              <a:gd name="connsiteX14" fmla="*/ 8284833 w 8284833"/>
              <a:gd name="connsiteY14" fmla="*/ 0 h 2838421"/>
              <a:gd name="connsiteX15" fmla="*/ 8284833 w 8284833"/>
              <a:gd name="connsiteY15" fmla="*/ 539300 h 2838421"/>
              <a:gd name="connsiteX16" fmla="*/ 8284833 w 8284833"/>
              <a:gd name="connsiteY16" fmla="*/ 1050216 h 2838421"/>
              <a:gd name="connsiteX17" fmla="*/ 8284833 w 8284833"/>
              <a:gd name="connsiteY17" fmla="*/ 1617900 h 2838421"/>
              <a:gd name="connsiteX18" fmla="*/ 8284833 w 8284833"/>
              <a:gd name="connsiteY18" fmla="*/ 2213968 h 2838421"/>
              <a:gd name="connsiteX19" fmla="*/ 8284833 w 8284833"/>
              <a:gd name="connsiteY19" fmla="*/ 2838421 h 2838421"/>
              <a:gd name="connsiteX20" fmla="*/ 7858756 w 8284833"/>
              <a:gd name="connsiteY20" fmla="*/ 2838421 h 2838421"/>
              <a:gd name="connsiteX21" fmla="*/ 7515527 w 8284833"/>
              <a:gd name="connsiteY21" fmla="*/ 2838421 h 2838421"/>
              <a:gd name="connsiteX22" fmla="*/ 7172298 w 8284833"/>
              <a:gd name="connsiteY22" fmla="*/ 2838421 h 2838421"/>
              <a:gd name="connsiteX23" fmla="*/ 6829069 w 8284833"/>
              <a:gd name="connsiteY23" fmla="*/ 2838421 h 2838421"/>
              <a:gd name="connsiteX24" fmla="*/ 6402992 w 8284833"/>
              <a:gd name="connsiteY24" fmla="*/ 2838421 h 2838421"/>
              <a:gd name="connsiteX25" fmla="*/ 5728370 w 8284833"/>
              <a:gd name="connsiteY25" fmla="*/ 2838421 h 2838421"/>
              <a:gd name="connsiteX26" fmla="*/ 4970900 w 8284833"/>
              <a:gd name="connsiteY26" fmla="*/ 2838421 h 2838421"/>
              <a:gd name="connsiteX27" fmla="*/ 4627671 w 8284833"/>
              <a:gd name="connsiteY27" fmla="*/ 2838421 h 2838421"/>
              <a:gd name="connsiteX28" fmla="*/ 4284442 w 8284833"/>
              <a:gd name="connsiteY28" fmla="*/ 2838421 h 2838421"/>
              <a:gd name="connsiteX29" fmla="*/ 3775517 w 8284833"/>
              <a:gd name="connsiteY29" fmla="*/ 2838421 h 2838421"/>
              <a:gd name="connsiteX30" fmla="*/ 3349440 w 8284833"/>
              <a:gd name="connsiteY30" fmla="*/ 2838421 h 2838421"/>
              <a:gd name="connsiteX31" fmla="*/ 2591969 w 8284833"/>
              <a:gd name="connsiteY31" fmla="*/ 2838421 h 2838421"/>
              <a:gd name="connsiteX32" fmla="*/ 2165892 w 8284833"/>
              <a:gd name="connsiteY32" fmla="*/ 2838421 h 2838421"/>
              <a:gd name="connsiteX33" fmla="*/ 1491270 w 8284833"/>
              <a:gd name="connsiteY33" fmla="*/ 2838421 h 2838421"/>
              <a:gd name="connsiteX34" fmla="*/ 1148041 w 8284833"/>
              <a:gd name="connsiteY34" fmla="*/ 2838421 h 2838421"/>
              <a:gd name="connsiteX35" fmla="*/ 721964 w 8284833"/>
              <a:gd name="connsiteY35" fmla="*/ 2838421 h 2838421"/>
              <a:gd name="connsiteX36" fmla="*/ 0 w 8284833"/>
              <a:gd name="connsiteY36" fmla="*/ 2838421 h 2838421"/>
              <a:gd name="connsiteX37" fmla="*/ 0 w 8284833"/>
              <a:gd name="connsiteY37" fmla="*/ 2270737 h 2838421"/>
              <a:gd name="connsiteX38" fmla="*/ 0 w 8284833"/>
              <a:gd name="connsiteY38" fmla="*/ 1759821 h 2838421"/>
              <a:gd name="connsiteX39" fmla="*/ 0 w 8284833"/>
              <a:gd name="connsiteY39" fmla="*/ 1248905 h 2838421"/>
              <a:gd name="connsiteX40" fmla="*/ 0 w 8284833"/>
              <a:gd name="connsiteY40" fmla="*/ 709605 h 2838421"/>
              <a:gd name="connsiteX41" fmla="*/ 0 w 8284833"/>
              <a:gd name="connsiteY41" fmla="*/ 0 h 2838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284833" h="2838421" fill="none" extrusionOk="0">
                <a:moveTo>
                  <a:pt x="0" y="0"/>
                </a:moveTo>
                <a:cubicBezTo>
                  <a:pt x="185216" y="-80607"/>
                  <a:pt x="473749" y="4439"/>
                  <a:pt x="674622" y="0"/>
                </a:cubicBezTo>
                <a:cubicBezTo>
                  <a:pt x="875495" y="-4439"/>
                  <a:pt x="1018998" y="62015"/>
                  <a:pt x="1266396" y="0"/>
                </a:cubicBezTo>
                <a:cubicBezTo>
                  <a:pt x="1513794" y="-62015"/>
                  <a:pt x="1605382" y="46077"/>
                  <a:pt x="1775321" y="0"/>
                </a:cubicBezTo>
                <a:cubicBezTo>
                  <a:pt x="1945261" y="-46077"/>
                  <a:pt x="2044739" y="22034"/>
                  <a:pt x="2118550" y="0"/>
                </a:cubicBezTo>
                <a:cubicBezTo>
                  <a:pt x="2192361" y="-22034"/>
                  <a:pt x="2415926" y="63415"/>
                  <a:pt x="2710324" y="0"/>
                </a:cubicBezTo>
                <a:cubicBezTo>
                  <a:pt x="3004722" y="-63415"/>
                  <a:pt x="2924126" y="41872"/>
                  <a:pt x="3136401" y="0"/>
                </a:cubicBezTo>
                <a:cubicBezTo>
                  <a:pt x="3348676" y="-41872"/>
                  <a:pt x="3423447" y="32959"/>
                  <a:pt x="3562478" y="0"/>
                </a:cubicBezTo>
                <a:cubicBezTo>
                  <a:pt x="3701509" y="-32959"/>
                  <a:pt x="3988172" y="25927"/>
                  <a:pt x="4154252" y="0"/>
                </a:cubicBezTo>
                <a:cubicBezTo>
                  <a:pt x="4320332" y="-25927"/>
                  <a:pt x="4654589" y="53325"/>
                  <a:pt x="4911722" y="0"/>
                </a:cubicBezTo>
                <a:cubicBezTo>
                  <a:pt x="5168855" y="-53325"/>
                  <a:pt x="5371550" y="34297"/>
                  <a:pt x="5586345" y="0"/>
                </a:cubicBezTo>
                <a:cubicBezTo>
                  <a:pt x="5801140" y="-34297"/>
                  <a:pt x="6076938" y="55187"/>
                  <a:pt x="6343815" y="0"/>
                </a:cubicBezTo>
                <a:cubicBezTo>
                  <a:pt x="6610692" y="-55187"/>
                  <a:pt x="6696199" y="2113"/>
                  <a:pt x="6935589" y="0"/>
                </a:cubicBezTo>
                <a:cubicBezTo>
                  <a:pt x="7174979" y="-2113"/>
                  <a:pt x="7351366" y="54269"/>
                  <a:pt x="7527363" y="0"/>
                </a:cubicBezTo>
                <a:cubicBezTo>
                  <a:pt x="7703360" y="-54269"/>
                  <a:pt x="8123841" y="30190"/>
                  <a:pt x="8284833" y="0"/>
                </a:cubicBezTo>
                <a:cubicBezTo>
                  <a:pt x="8326829" y="267664"/>
                  <a:pt x="8253657" y="324522"/>
                  <a:pt x="8284833" y="539300"/>
                </a:cubicBezTo>
                <a:cubicBezTo>
                  <a:pt x="8316009" y="754078"/>
                  <a:pt x="8241459" y="804096"/>
                  <a:pt x="8284833" y="1050216"/>
                </a:cubicBezTo>
                <a:cubicBezTo>
                  <a:pt x="8328207" y="1296336"/>
                  <a:pt x="8283586" y="1389719"/>
                  <a:pt x="8284833" y="1617900"/>
                </a:cubicBezTo>
                <a:cubicBezTo>
                  <a:pt x="8286080" y="1846081"/>
                  <a:pt x="8262219" y="1972964"/>
                  <a:pt x="8284833" y="2213968"/>
                </a:cubicBezTo>
                <a:cubicBezTo>
                  <a:pt x="8307447" y="2454972"/>
                  <a:pt x="8270042" y="2579386"/>
                  <a:pt x="8284833" y="2838421"/>
                </a:cubicBezTo>
                <a:cubicBezTo>
                  <a:pt x="8096233" y="2842671"/>
                  <a:pt x="8055822" y="2810259"/>
                  <a:pt x="7858756" y="2838421"/>
                </a:cubicBezTo>
                <a:cubicBezTo>
                  <a:pt x="7661690" y="2866583"/>
                  <a:pt x="7600149" y="2803453"/>
                  <a:pt x="7515527" y="2838421"/>
                </a:cubicBezTo>
                <a:cubicBezTo>
                  <a:pt x="7430905" y="2873389"/>
                  <a:pt x="7284481" y="2830096"/>
                  <a:pt x="7172298" y="2838421"/>
                </a:cubicBezTo>
                <a:cubicBezTo>
                  <a:pt x="7060115" y="2846746"/>
                  <a:pt x="6931885" y="2827244"/>
                  <a:pt x="6829069" y="2838421"/>
                </a:cubicBezTo>
                <a:cubicBezTo>
                  <a:pt x="6726253" y="2849598"/>
                  <a:pt x="6592882" y="2793097"/>
                  <a:pt x="6402992" y="2838421"/>
                </a:cubicBezTo>
                <a:cubicBezTo>
                  <a:pt x="6213102" y="2883745"/>
                  <a:pt x="5990314" y="2774882"/>
                  <a:pt x="5728370" y="2838421"/>
                </a:cubicBezTo>
                <a:cubicBezTo>
                  <a:pt x="5466426" y="2901960"/>
                  <a:pt x="5253503" y="2773593"/>
                  <a:pt x="4970900" y="2838421"/>
                </a:cubicBezTo>
                <a:cubicBezTo>
                  <a:pt x="4688297" y="2903249"/>
                  <a:pt x="4758880" y="2823110"/>
                  <a:pt x="4627671" y="2838421"/>
                </a:cubicBezTo>
                <a:cubicBezTo>
                  <a:pt x="4496462" y="2853732"/>
                  <a:pt x="4454927" y="2806508"/>
                  <a:pt x="4284442" y="2838421"/>
                </a:cubicBezTo>
                <a:cubicBezTo>
                  <a:pt x="4113957" y="2870334"/>
                  <a:pt x="3886802" y="2824916"/>
                  <a:pt x="3775517" y="2838421"/>
                </a:cubicBezTo>
                <a:cubicBezTo>
                  <a:pt x="3664232" y="2851926"/>
                  <a:pt x="3546684" y="2836947"/>
                  <a:pt x="3349440" y="2838421"/>
                </a:cubicBezTo>
                <a:cubicBezTo>
                  <a:pt x="3152196" y="2839895"/>
                  <a:pt x="2948734" y="2834467"/>
                  <a:pt x="2591969" y="2838421"/>
                </a:cubicBezTo>
                <a:cubicBezTo>
                  <a:pt x="2235204" y="2842375"/>
                  <a:pt x="2307167" y="2805581"/>
                  <a:pt x="2165892" y="2838421"/>
                </a:cubicBezTo>
                <a:cubicBezTo>
                  <a:pt x="2024617" y="2871261"/>
                  <a:pt x="1743376" y="2774129"/>
                  <a:pt x="1491270" y="2838421"/>
                </a:cubicBezTo>
                <a:cubicBezTo>
                  <a:pt x="1239164" y="2902713"/>
                  <a:pt x="1254792" y="2811934"/>
                  <a:pt x="1148041" y="2838421"/>
                </a:cubicBezTo>
                <a:cubicBezTo>
                  <a:pt x="1041290" y="2864908"/>
                  <a:pt x="845739" y="2801708"/>
                  <a:pt x="721964" y="2838421"/>
                </a:cubicBezTo>
                <a:cubicBezTo>
                  <a:pt x="598189" y="2875134"/>
                  <a:pt x="343417" y="2806133"/>
                  <a:pt x="0" y="2838421"/>
                </a:cubicBezTo>
                <a:cubicBezTo>
                  <a:pt x="-33417" y="2676568"/>
                  <a:pt x="55524" y="2529119"/>
                  <a:pt x="0" y="2270737"/>
                </a:cubicBezTo>
                <a:cubicBezTo>
                  <a:pt x="-55524" y="2012355"/>
                  <a:pt x="27308" y="1866698"/>
                  <a:pt x="0" y="1759821"/>
                </a:cubicBezTo>
                <a:cubicBezTo>
                  <a:pt x="-27308" y="1652944"/>
                  <a:pt x="38200" y="1357477"/>
                  <a:pt x="0" y="1248905"/>
                </a:cubicBezTo>
                <a:cubicBezTo>
                  <a:pt x="-38200" y="1140333"/>
                  <a:pt x="36394" y="892183"/>
                  <a:pt x="0" y="709605"/>
                </a:cubicBezTo>
                <a:cubicBezTo>
                  <a:pt x="-36394" y="527027"/>
                  <a:pt x="19320" y="156345"/>
                  <a:pt x="0" y="0"/>
                </a:cubicBezTo>
                <a:close/>
              </a:path>
              <a:path w="8284833" h="2838421" stroke="0" extrusionOk="0">
                <a:moveTo>
                  <a:pt x="0" y="0"/>
                </a:moveTo>
                <a:cubicBezTo>
                  <a:pt x="352602" y="-88231"/>
                  <a:pt x="407334" y="39900"/>
                  <a:pt x="757470" y="0"/>
                </a:cubicBezTo>
                <a:cubicBezTo>
                  <a:pt x="1107606" y="-39900"/>
                  <a:pt x="1152798" y="15066"/>
                  <a:pt x="1266396" y="0"/>
                </a:cubicBezTo>
                <a:cubicBezTo>
                  <a:pt x="1379994" y="-15066"/>
                  <a:pt x="1699762" y="31849"/>
                  <a:pt x="2023866" y="0"/>
                </a:cubicBezTo>
                <a:cubicBezTo>
                  <a:pt x="2347970" y="-31849"/>
                  <a:pt x="2222587" y="4571"/>
                  <a:pt x="2367095" y="0"/>
                </a:cubicBezTo>
                <a:cubicBezTo>
                  <a:pt x="2511603" y="-4571"/>
                  <a:pt x="2583030" y="35871"/>
                  <a:pt x="2793172" y="0"/>
                </a:cubicBezTo>
                <a:cubicBezTo>
                  <a:pt x="3003314" y="-35871"/>
                  <a:pt x="3282554" y="21086"/>
                  <a:pt x="3467794" y="0"/>
                </a:cubicBezTo>
                <a:cubicBezTo>
                  <a:pt x="3653034" y="-21086"/>
                  <a:pt x="3736920" y="58316"/>
                  <a:pt x="3976720" y="0"/>
                </a:cubicBezTo>
                <a:cubicBezTo>
                  <a:pt x="4216520" y="-58316"/>
                  <a:pt x="4426501" y="40182"/>
                  <a:pt x="4734190" y="0"/>
                </a:cubicBezTo>
                <a:cubicBezTo>
                  <a:pt x="5041879" y="-40182"/>
                  <a:pt x="4979740" y="10278"/>
                  <a:pt x="5077419" y="0"/>
                </a:cubicBezTo>
                <a:cubicBezTo>
                  <a:pt x="5175098" y="-10278"/>
                  <a:pt x="5655062" y="14959"/>
                  <a:pt x="5834890" y="0"/>
                </a:cubicBezTo>
                <a:cubicBezTo>
                  <a:pt x="6014718" y="-14959"/>
                  <a:pt x="6369282" y="49566"/>
                  <a:pt x="6509512" y="0"/>
                </a:cubicBezTo>
                <a:cubicBezTo>
                  <a:pt x="6649742" y="-49566"/>
                  <a:pt x="6819525" y="57509"/>
                  <a:pt x="7101285" y="0"/>
                </a:cubicBezTo>
                <a:cubicBezTo>
                  <a:pt x="7383045" y="-57509"/>
                  <a:pt x="7441858" y="35369"/>
                  <a:pt x="7527363" y="0"/>
                </a:cubicBezTo>
                <a:cubicBezTo>
                  <a:pt x="7612868" y="-35369"/>
                  <a:pt x="8009870" y="82435"/>
                  <a:pt x="8284833" y="0"/>
                </a:cubicBezTo>
                <a:cubicBezTo>
                  <a:pt x="8298170" y="213779"/>
                  <a:pt x="8255240" y="391146"/>
                  <a:pt x="8284833" y="539300"/>
                </a:cubicBezTo>
                <a:cubicBezTo>
                  <a:pt x="8314426" y="687454"/>
                  <a:pt x="8234512" y="881472"/>
                  <a:pt x="8284833" y="1106984"/>
                </a:cubicBezTo>
                <a:cubicBezTo>
                  <a:pt x="8335154" y="1332496"/>
                  <a:pt x="8230153" y="1394514"/>
                  <a:pt x="8284833" y="1674668"/>
                </a:cubicBezTo>
                <a:cubicBezTo>
                  <a:pt x="8339513" y="1954822"/>
                  <a:pt x="8263505" y="2037339"/>
                  <a:pt x="8284833" y="2242353"/>
                </a:cubicBezTo>
                <a:cubicBezTo>
                  <a:pt x="8306161" y="2447368"/>
                  <a:pt x="8274617" y="2622853"/>
                  <a:pt x="8284833" y="2838421"/>
                </a:cubicBezTo>
                <a:cubicBezTo>
                  <a:pt x="8072682" y="2867688"/>
                  <a:pt x="7983245" y="2820282"/>
                  <a:pt x="7693059" y="2838421"/>
                </a:cubicBezTo>
                <a:cubicBezTo>
                  <a:pt x="7402873" y="2856560"/>
                  <a:pt x="7320278" y="2794514"/>
                  <a:pt x="7018437" y="2838421"/>
                </a:cubicBezTo>
                <a:cubicBezTo>
                  <a:pt x="6716596" y="2882328"/>
                  <a:pt x="6770742" y="2811896"/>
                  <a:pt x="6675208" y="2838421"/>
                </a:cubicBezTo>
                <a:cubicBezTo>
                  <a:pt x="6579674" y="2864946"/>
                  <a:pt x="6282285" y="2796001"/>
                  <a:pt x="5917738" y="2838421"/>
                </a:cubicBezTo>
                <a:cubicBezTo>
                  <a:pt x="5553191" y="2880841"/>
                  <a:pt x="5638136" y="2818765"/>
                  <a:pt x="5491661" y="2838421"/>
                </a:cubicBezTo>
                <a:cubicBezTo>
                  <a:pt x="5345186" y="2858077"/>
                  <a:pt x="5284823" y="2830026"/>
                  <a:pt x="5148432" y="2838421"/>
                </a:cubicBezTo>
                <a:cubicBezTo>
                  <a:pt x="5012041" y="2846816"/>
                  <a:pt x="4810361" y="2779851"/>
                  <a:pt x="4639506" y="2838421"/>
                </a:cubicBezTo>
                <a:cubicBezTo>
                  <a:pt x="4468651" y="2896991"/>
                  <a:pt x="4377644" y="2807014"/>
                  <a:pt x="4213429" y="2838421"/>
                </a:cubicBezTo>
                <a:cubicBezTo>
                  <a:pt x="4049214" y="2869828"/>
                  <a:pt x="3779840" y="2810021"/>
                  <a:pt x="3455959" y="2838421"/>
                </a:cubicBezTo>
                <a:cubicBezTo>
                  <a:pt x="3132078" y="2866821"/>
                  <a:pt x="3175564" y="2777646"/>
                  <a:pt x="2947033" y="2838421"/>
                </a:cubicBezTo>
                <a:cubicBezTo>
                  <a:pt x="2718502" y="2899196"/>
                  <a:pt x="2572863" y="2827872"/>
                  <a:pt x="2355260" y="2838421"/>
                </a:cubicBezTo>
                <a:cubicBezTo>
                  <a:pt x="2137657" y="2848970"/>
                  <a:pt x="2000142" y="2826174"/>
                  <a:pt x="1763486" y="2838421"/>
                </a:cubicBezTo>
                <a:cubicBezTo>
                  <a:pt x="1526830" y="2850668"/>
                  <a:pt x="1205938" y="2804401"/>
                  <a:pt x="1006015" y="2838421"/>
                </a:cubicBezTo>
                <a:cubicBezTo>
                  <a:pt x="806092" y="2872441"/>
                  <a:pt x="450498" y="2746020"/>
                  <a:pt x="0" y="2838421"/>
                </a:cubicBezTo>
                <a:cubicBezTo>
                  <a:pt x="-11363" y="2672217"/>
                  <a:pt x="44360" y="2539395"/>
                  <a:pt x="0" y="2355889"/>
                </a:cubicBezTo>
                <a:cubicBezTo>
                  <a:pt x="-44360" y="2172383"/>
                  <a:pt x="31079" y="2026209"/>
                  <a:pt x="0" y="1844974"/>
                </a:cubicBezTo>
                <a:cubicBezTo>
                  <a:pt x="-31079" y="1663739"/>
                  <a:pt x="18360" y="1488642"/>
                  <a:pt x="0" y="1305674"/>
                </a:cubicBezTo>
                <a:cubicBezTo>
                  <a:pt x="-18360" y="1122706"/>
                  <a:pt x="10726" y="1045091"/>
                  <a:pt x="0" y="794758"/>
                </a:cubicBezTo>
                <a:cubicBezTo>
                  <a:pt x="-10726" y="544425"/>
                  <a:pt x="73172" y="341650"/>
                  <a:pt x="0" y="0"/>
                </a:cubicBezTo>
                <a:close/>
              </a:path>
            </a:pathLst>
          </a:custGeom>
          <a:ln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33026410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2894F2A-ED27-6F30-8050-EDF51CD591CC}"/>
              </a:ext>
            </a:extLst>
          </p:cNvPr>
          <p:cNvSpPr/>
          <p:nvPr/>
        </p:nvSpPr>
        <p:spPr>
          <a:xfrm>
            <a:off x="2891616" y="3995984"/>
            <a:ext cx="2921355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just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dhabi" panose="01000000000000000000" pitchFamily="2" charset="-78"/>
                <a:cs typeface="Aldhabi" panose="01000000000000000000" pitchFamily="2" charset="-78"/>
              </a:rPr>
              <a:t>Menu function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38D09D7B-2E0D-AB5E-4C4D-EDB99AB5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3">
            <a:extLst>
              <a:ext uri="{FF2B5EF4-FFF2-40B4-BE49-F238E27FC236}">
                <a16:creationId xmlns:a16="http://schemas.microsoft.com/office/drawing/2014/main" id="{6B08C6AD-682A-6050-3CF1-C02164387AC5}"/>
              </a:ext>
            </a:extLst>
          </p:cNvPr>
          <p:cNvSpPr/>
          <p:nvPr/>
        </p:nvSpPr>
        <p:spPr>
          <a:xfrm>
            <a:off x="8440089" y="539500"/>
            <a:ext cx="33" cy="1623713"/>
          </a:xfrm>
          <a:custGeom>
            <a:avLst/>
            <a:gdLst/>
            <a:ahLst/>
            <a:cxnLst/>
            <a:rect l="l" t="t" r="r" b="b"/>
            <a:pathLst>
              <a:path w="1" h="48556" fill="none" extrusionOk="0">
                <a:moveTo>
                  <a:pt x="0" y="0"/>
                </a:moveTo>
                <a:lnTo>
                  <a:pt x="0" y="48555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197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D3F22-0FDE-03E1-CEAF-75D47B24F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62" y="336618"/>
            <a:ext cx="8114011" cy="38077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A3AC80-AF72-0819-00E4-50120176F7ED}"/>
              </a:ext>
            </a:extLst>
          </p:cNvPr>
          <p:cNvSpPr/>
          <p:nvPr/>
        </p:nvSpPr>
        <p:spPr>
          <a:xfrm>
            <a:off x="2685626" y="4144391"/>
            <a:ext cx="3961359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just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dhabi" panose="01000000000000000000" pitchFamily="2" charset="-78"/>
                <a:cs typeface="Aldhabi" panose="01000000000000000000" pitchFamily="2" charset="-78"/>
              </a:rPr>
              <a:t>Adding a new record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7906246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7441061D-F747-61BE-AF0C-FDD91F7A4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3">
            <a:extLst>
              <a:ext uri="{FF2B5EF4-FFF2-40B4-BE49-F238E27FC236}">
                <a16:creationId xmlns:a16="http://schemas.microsoft.com/office/drawing/2014/main" id="{06DCBBF4-854D-F20F-995C-5141D6F5967B}"/>
              </a:ext>
            </a:extLst>
          </p:cNvPr>
          <p:cNvSpPr/>
          <p:nvPr/>
        </p:nvSpPr>
        <p:spPr>
          <a:xfrm>
            <a:off x="8440089" y="539500"/>
            <a:ext cx="33" cy="1623713"/>
          </a:xfrm>
          <a:custGeom>
            <a:avLst/>
            <a:gdLst/>
            <a:ahLst/>
            <a:cxnLst/>
            <a:rect l="l" t="t" r="r" b="b"/>
            <a:pathLst>
              <a:path w="1" h="48556" fill="none" extrusionOk="0">
                <a:moveTo>
                  <a:pt x="0" y="0"/>
                </a:moveTo>
                <a:lnTo>
                  <a:pt x="0" y="48555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197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F1237-E2FE-A6B4-4514-6E7A2B843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32" y="241159"/>
            <a:ext cx="8465736" cy="39389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11A72B-FCDE-81A9-C7E7-F2F36F10974E}"/>
              </a:ext>
            </a:extLst>
          </p:cNvPr>
          <p:cNvSpPr/>
          <p:nvPr/>
        </p:nvSpPr>
        <p:spPr>
          <a:xfrm>
            <a:off x="3293552" y="4076371"/>
            <a:ext cx="2479228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just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dhabi" panose="01000000000000000000" pitchFamily="2" charset="-78"/>
                <a:cs typeface="Aldhabi" panose="01000000000000000000" pitchFamily="2" charset="-78"/>
              </a:rPr>
              <a:t>Result Sheet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996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9F10AD28-B371-04C1-48C3-48A648DC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3">
            <a:extLst>
              <a:ext uri="{FF2B5EF4-FFF2-40B4-BE49-F238E27FC236}">
                <a16:creationId xmlns:a16="http://schemas.microsoft.com/office/drawing/2014/main" id="{B6A25B90-8461-A640-DF43-53177AC282E5}"/>
              </a:ext>
            </a:extLst>
          </p:cNvPr>
          <p:cNvSpPr/>
          <p:nvPr/>
        </p:nvSpPr>
        <p:spPr>
          <a:xfrm>
            <a:off x="8440089" y="539500"/>
            <a:ext cx="33" cy="1623713"/>
          </a:xfrm>
          <a:custGeom>
            <a:avLst/>
            <a:gdLst/>
            <a:ahLst/>
            <a:cxnLst/>
            <a:rect l="l" t="t" r="r" b="b"/>
            <a:pathLst>
              <a:path w="1" h="48556" fill="none" extrusionOk="0">
                <a:moveTo>
                  <a:pt x="0" y="0"/>
                </a:moveTo>
                <a:lnTo>
                  <a:pt x="0" y="48555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197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ED1F8-1308-39E2-7903-BE463C6DE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65" y="539500"/>
            <a:ext cx="8340132" cy="27543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E72323-06F5-144E-1501-C18245994267}"/>
              </a:ext>
            </a:extLst>
          </p:cNvPr>
          <p:cNvSpPr/>
          <p:nvPr/>
        </p:nvSpPr>
        <p:spPr>
          <a:xfrm>
            <a:off x="2749582" y="3629219"/>
            <a:ext cx="3574498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just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dhabi" panose="01000000000000000000" pitchFamily="2" charset="-78"/>
                <a:cs typeface="Aldhabi" panose="01000000000000000000" pitchFamily="2" charset="-78"/>
              </a:rPr>
              <a:t>Deleting a record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9131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C2023914-1794-0B96-3A0C-8695BAA0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3">
            <a:extLst>
              <a:ext uri="{FF2B5EF4-FFF2-40B4-BE49-F238E27FC236}">
                <a16:creationId xmlns:a16="http://schemas.microsoft.com/office/drawing/2014/main" id="{A3F6EB78-9BB1-9C47-0A1E-825705FBF80C}"/>
              </a:ext>
            </a:extLst>
          </p:cNvPr>
          <p:cNvSpPr/>
          <p:nvPr/>
        </p:nvSpPr>
        <p:spPr>
          <a:xfrm>
            <a:off x="8440089" y="539500"/>
            <a:ext cx="33" cy="1623713"/>
          </a:xfrm>
          <a:custGeom>
            <a:avLst/>
            <a:gdLst/>
            <a:ahLst/>
            <a:cxnLst/>
            <a:rect l="l" t="t" r="r" b="b"/>
            <a:pathLst>
              <a:path w="1" h="48556" fill="none" extrusionOk="0">
                <a:moveTo>
                  <a:pt x="0" y="0"/>
                </a:moveTo>
                <a:lnTo>
                  <a:pt x="0" y="48555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197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0B6E70-11D5-ECBF-B91E-8CF2905AB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00" y="330290"/>
            <a:ext cx="7325249" cy="35878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1E2063-403D-F674-E45F-4B13772ECF6E}"/>
              </a:ext>
            </a:extLst>
          </p:cNvPr>
          <p:cNvSpPr/>
          <p:nvPr/>
        </p:nvSpPr>
        <p:spPr>
          <a:xfrm>
            <a:off x="2896640" y="4051250"/>
            <a:ext cx="3594595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just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dhabi" panose="01000000000000000000" pitchFamily="2" charset="-78"/>
                <a:cs typeface="Aldhabi" panose="01000000000000000000" pitchFamily="2" charset="-78"/>
              </a:rPr>
              <a:t>Exiting a program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60190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>
            <a:spLocks noGrp="1"/>
          </p:cNvSpPr>
          <p:nvPr>
            <p:ph type="title"/>
          </p:nvPr>
        </p:nvSpPr>
        <p:spPr>
          <a:xfrm>
            <a:off x="517490" y="225198"/>
            <a:ext cx="7977819" cy="10007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/>
              <a:t>COMPARISON OF PROPOSED SYSTEM WITH EXISTING SYSTEM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9339AB-5E66-C9F6-FEDC-5C4A47955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502736"/>
              </p:ext>
            </p:extLst>
          </p:nvPr>
        </p:nvGraphicFramePr>
        <p:xfrm>
          <a:off x="839037" y="1607734"/>
          <a:ext cx="7872884" cy="3029579"/>
        </p:xfrm>
        <a:graphic>
          <a:graphicData uri="http://schemas.openxmlformats.org/drawingml/2006/table">
            <a:tbl>
              <a:tblPr firstRow="1" bandRow="1">
                <a:tableStyleId>{4F81ABDE-81AE-4128-9D1C-D56AFF6AB158}</a:tableStyleId>
              </a:tblPr>
              <a:tblGrid>
                <a:gridCol w="2487476">
                  <a:extLst>
                    <a:ext uri="{9D8B030D-6E8A-4147-A177-3AD203B41FA5}">
                      <a16:colId xmlns:a16="http://schemas.microsoft.com/office/drawing/2014/main" val="657480018"/>
                    </a:ext>
                  </a:extLst>
                </a:gridCol>
                <a:gridCol w="2692704">
                  <a:extLst>
                    <a:ext uri="{9D8B030D-6E8A-4147-A177-3AD203B41FA5}">
                      <a16:colId xmlns:a16="http://schemas.microsoft.com/office/drawing/2014/main" val="24047853"/>
                    </a:ext>
                  </a:extLst>
                </a:gridCol>
                <a:gridCol w="2692704">
                  <a:extLst>
                    <a:ext uri="{9D8B030D-6E8A-4147-A177-3AD203B41FA5}">
                      <a16:colId xmlns:a16="http://schemas.microsoft.com/office/drawing/2014/main" val="1314405664"/>
                    </a:ext>
                  </a:extLst>
                </a:gridCol>
              </a:tblGrid>
              <a:tr h="962669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sz="18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sz="18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Manual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710137"/>
                  </a:ext>
                </a:extLst>
              </a:tr>
              <a:tr h="68897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Data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Manual, error-prone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Automated, error-free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551944"/>
                  </a:ext>
                </a:extLst>
              </a:tr>
              <a:tr h="68897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Easily accessible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453294"/>
                  </a:ext>
                </a:extLst>
              </a:tr>
              <a:tr h="68897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Time-consuming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>
                          <a:solidFill>
                            <a:schemeClr val="bg2"/>
                          </a:solidFill>
                          <a:latin typeface="Bell MT" panose="02020503060305020303" pitchFamily="18" charset="0"/>
                        </a:rPr>
                        <a:t>Quick and 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329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>
          <a:extLst>
            <a:ext uri="{FF2B5EF4-FFF2-40B4-BE49-F238E27FC236}">
              <a16:creationId xmlns:a16="http://schemas.microsoft.com/office/drawing/2014/main" id="{C306B537-7FDA-3031-4F32-9436BC699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>
            <a:extLst>
              <a:ext uri="{FF2B5EF4-FFF2-40B4-BE49-F238E27FC236}">
                <a16:creationId xmlns:a16="http://schemas.microsoft.com/office/drawing/2014/main" id="{C70837B0-590F-DAC9-5266-9B3785CFF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99" y="212248"/>
            <a:ext cx="4612193" cy="5979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 dirty="0" err="1"/>
              <a:t>SetColor</a:t>
            </a:r>
            <a:r>
              <a:rPr lang="en-IN" sz="2800" u="sng" dirty="0"/>
              <a:t>() Function in C++:</a:t>
            </a:r>
            <a:endParaRPr lang="en-US" sz="28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80FF2C-6E5E-F098-D73D-5B24E122DAE5}"/>
              </a:ext>
            </a:extLst>
          </p:cNvPr>
          <p:cNvSpPr txBox="1"/>
          <p:nvPr/>
        </p:nvSpPr>
        <p:spPr>
          <a:xfrm>
            <a:off x="355459" y="810173"/>
            <a:ext cx="8411727" cy="1739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lifornian FB" panose="0207040306080B030204" pitchFamily="18" charset="0"/>
              </a:rPr>
              <a:t>Purpose :</a:t>
            </a:r>
            <a:endParaRPr kumimoji="0" lang="en-US" altLang="en-US" sz="1800" b="0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Californian FB" panose="0207040306080B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Used to change text and background colors in the console.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Enhances user experience by making output more readable and engaging.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5A126-D9C0-CB1C-9F19-407C0AE34A77}"/>
              </a:ext>
            </a:extLst>
          </p:cNvPr>
          <p:cNvSpPr txBox="1"/>
          <p:nvPr/>
        </p:nvSpPr>
        <p:spPr>
          <a:xfrm>
            <a:off x="311499" y="2549816"/>
            <a:ext cx="8411727" cy="2416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Californian FB" panose="0207040306080B030204" pitchFamily="18" charset="0"/>
              </a:rPr>
              <a:t>Syntax :  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u="sng" dirty="0">
              <a:solidFill>
                <a:srgbClr val="FFFF00"/>
              </a:solidFill>
              <a:latin typeface="Californian FB" panose="0207040306080B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Californian FB" panose="0207040306080B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alifornian FB" panose="0207040306080B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B0AB0F-46AC-B2E5-2170-59E868890F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70" b="2370"/>
          <a:stretch/>
        </p:blipFill>
        <p:spPr>
          <a:xfrm>
            <a:off x="1075174" y="3376246"/>
            <a:ext cx="7460901" cy="13640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9518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>
          <a:extLst>
            <a:ext uri="{FF2B5EF4-FFF2-40B4-BE49-F238E27FC236}">
              <a16:creationId xmlns:a16="http://schemas.microsoft.com/office/drawing/2014/main" id="{D22E6AFA-C423-8278-4C02-E61D853F8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>
            <a:extLst>
              <a:ext uri="{FF2B5EF4-FFF2-40B4-BE49-F238E27FC236}">
                <a16:creationId xmlns:a16="http://schemas.microsoft.com/office/drawing/2014/main" id="{41A9BAF6-3671-A558-F274-B53AC60FB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99" y="212248"/>
            <a:ext cx="4612193" cy="5979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 dirty="0" err="1"/>
              <a:t>SetColor</a:t>
            </a:r>
            <a:r>
              <a:rPr lang="en-IN" sz="2800" u="sng" dirty="0"/>
              <a:t>() Function in C++:</a:t>
            </a:r>
            <a:endParaRPr lang="en-US" sz="28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7A8DB-86B2-1F01-0260-F56CD5E7C144}"/>
              </a:ext>
            </a:extLst>
          </p:cNvPr>
          <p:cNvSpPr txBox="1"/>
          <p:nvPr/>
        </p:nvSpPr>
        <p:spPr>
          <a:xfrm>
            <a:off x="386232" y="537612"/>
            <a:ext cx="4462726" cy="1739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000" dirty="0">
                <a:solidFill>
                  <a:srgbClr val="FFFF00"/>
                </a:solidFill>
                <a:latin typeface="Californian FB" panose="0207040306080B030204" pitchFamily="18" charset="0"/>
              </a:rPr>
              <a:t>Parameters </a:t>
            </a:r>
            <a:r>
              <a:rPr lang="en-US" sz="2000" u="sng" dirty="0">
                <a:solidFill>
                  <a:srgbClr val="FFFF00"/>
                </a:solidFill>
                <a:latin typeface="Californian FB" panose="0207040306080B030204" pitchFamily="18" charset="0"/>
              </a:rPr>
              <a:t>:-</a:t>
            </a: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Californian FB" panose="0207040306080B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alifornian FB" panose="0207040306080B030204" pitchFamily="18" charset="0"/>
              </a:rPr>
              <a:t>foreground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Textcolor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(0-15)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alifornian FB" panose="0207040306080B030204" pitchFamily="18" charset="0"/>
              </a:rPr>
              <a:t>background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Background Color (0-15)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alifornian FB" panose="0207040306080B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46021-BD64-18DD-9237-56C9B0E91198}"/>
              </a:ext>
            </a:extLst>
          </p:cNvPr>
          <p:cNvSpPr txBox="1"/>
          <p:nvPr/>
        </p:nvSpPr>
        <p:spPr>
          <a:xfrm>
            <a:off x="251210" y="2133896"/>
            <a:ext cx="8411727" cy="2416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u="sng" dirty="0">
                <a:solidFill>
                  <a:srgbClr val="FFFF00"/>
                </a:solidFill>
                <a:latin typeface="Californian FB" panose="0207040306080B030204" pitchFamily="18" charset="0"/>
              </a:rPr>
              <a:t>C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Californian FB" panose="0207040306080B030204" pitchFamily="18" charset="0"/>
              </a:rPr>
              <a:t>olor Codes : </a:t>
            </a: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Californian FB" panose="0207040306080B030204" pitchFamily="18" charset="0"/>
              </a:rPr>
              <a:t>  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Californian FB" panose="0207040306080B030204" pitchFamily="18" charset="0"/>
              </a:rPr>
              <a:t>  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u="sng" dirty="0">
              <a:solidFill>
                <a:srgbClr val="FFFF00"/>
              </a:solidFill>
              <a:latin typeface="Californian FB" panose="0207040306080B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Californian FB" panose="0207040306080B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alifornian FB" panose="0207040306080B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0D252E-E7A2-8822-CBB1-564E2D5BF6BE}"/>
              </a:ext>
            </a:extLst>
          </p:cNvPr>
          <p:cNvGraphicFramePr>
            <a:graphicFrameLocks noGrp="1"/>
          </p:cNvGraphicFramePr>
          <p:nvPr/>
        </p:nvGraphicFramePr>
        <p:xfrm>
          <a:off x="712788" y="2828131"/>
          <a:ext cx="7718424" cy="304800"/>
        </p:xfrm>
        <a:graphic>
          <a:graphicData uri="http://schemas.openxmlformats.org/drawingml/2006/table">
            <a:tbl>
              <a:tblPr/>
              <a:tblGrid>
                <a:gridCol w="1929606">
                  <a:extLst>
                    <a:ext uri="{9D8B030D-6E8A-4147-A177-3AD203B41FA5}">
                      <a16:colId xmlns:a16="http://schemas.microsoft.com/office/drawing/2014/main" val="3771628901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1039287357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546160159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4047380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Code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Color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Code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Color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3441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2C2767-4675-248C-4E8F-F4FBA4DBD0C9}"/>
              </a:ext>
            </a:extLst>
          </p:cNvPr>
          <p:cNvGraphicFramePr>
            <a:graphicFrameLocks noGrp="1"/>
          </p:cNvGraphicFramePr>
          <p:nvPr/>
        </p:nvGraphicFramePr>
        <p:xfrm>
          <a:off x="712788" y="2828131"/>
          <a:ext cx="7718424" cy="304800"/>
        </p:xfrm>
        <a:graphic>
          <a:graphicData uri="http://schemas.openxmlformats.org/drawingml/2006/table">
            <a:tbl>
              <a:tblPr/>
              <a:tblGrid>
                <a:gridCol w="1929606">
                  <a:extLst>
                    <a:ext uri="{9D8B030D-6E8A-4147-A177-3AD203B41FA5}">
                      <a16:colId xmlns:a16="http://schemas.microsoft.com/office/drawing/2014/main" val="2749702274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968148716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3326079844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1395324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Black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73140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88FA8F-B8CE-DE05-639D-7EA4E5B4CD00}"/>
              </a:ext>
            </a:extLst>
          </p:cNvPr>
          <p:cNvGraphicFramePr>
            <a:graphicFrameLocks noGrp="1"/>
          </p:cNvGraphicFramePr>
          <p:nvPr/>
        </p:nvGraphicFramePr>
        <p:xfrm>
          <a:off x="712788" y="2828131"/>
          <a:ext cx="7718424" cy="304800"/>
        </p:xfrm>
        <a:graphic>
          <a:graphicData uri="http://schemas.openxmlformats.org/drawingml/2006/table">
            <a:tbl>
              <a:tblPr/>
              <a:tblGrid>
                <a:gridCol w="1929606">
                  <a:extLst>
                    <a:ext uri="{9D8B030D-6E8A-4147-A177-3AD203B41FA5}">
                      <a16:colId xmlns:a16="http://schemas.microsoft.com/office/drawing/2014/main" val="3754172540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3983119940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92194330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1188014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Light Blue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5942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1E1F5A-C4AC-3521-50E8-4CE919B5E692}"/>
              </a:ext>
            </a:extLst>
          </p:cNvPr>
          <p:cNvGraphicFramePr>
            <a:graphicFrameLocks noGrp="1"/>
          </p:cNvGraphicFramePr>
          <p:nvPr/>
        </p:nvGraphicFramePr>
        <p:xfrm>
          <a:off x="712788" y="2828131"/>
          <a:ext cx="7718424" cy="304800"/>
        </p:xfrm>
        <a:graphic>
          <a:graphicData uri="http://schemas.openxmlformats.org/drawingml/2006/table">
            <a:tbl>
              <a:tblPr/>
              <a:tblGrid>
                <a:gridCol w="1929606">
                  <a:extLst>
                    <a:ext uri="{9D8B030D-6E8A-4147-A177-3AD203B41FA5}">
                      <a16:colId xmlns:a16="http://schemas.microsoft.com/office/drawing/2014/main" val="3913805361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3773827199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2833872122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2815678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Light Green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43269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E9D4D8F-BA35-890C-C9D1-D1139290FFC1}"/>
              </a:ext>
            </a:extLst>
          </p:cNvPr>
          <p:cNvGraphicFramePr>
            <a:graphicFrameLocks noGrp="1"/>
          </p:cNvGraphicFramePr>
          <p:nvPr/>
        </p:nvGraphicFramePr>
        <p:xfrm>
          <a:off x="712788" y="2828131"/>
          <a:ext cx="7718424" cy="304800"/>
        </p:xfrm>
        <a:graphic>
          <a:graphicData uri="http://schemas.openxmlformats.org/drawingml/2006/table">
            <a:tbl>
              <a:tblPr/>
              <a:tblGrid>
                <a:gridCol w="1929606">
                  <a:extLst>
                    <a:ext uri="{9D8B030D-6E8A-4147-A177-3AD203B41FA5}">
                      <a16:colId xmlns:a16="http://schemas.microsoft.com/office/drawing/2014/main" val="3429159435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4054053418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1294299211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417066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Light Yellow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762238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A561D5E2-F1DE-24F5-A7B9-9AD3042EF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68" y="2812282"/>
            <a:ext cx="8214528" cy="208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2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>
          <a:extLst>
            <a:ext uri="{FF2B5EF4-FFF2-40B4-BE49-F238E27FC236}">
              <a16:creationId xmlns:a16="http://schemas.microsoft.com/office/drawing/2014/main" id="{C6FEAE00-A83B-FE0B-2C5A-2B24F782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>
            <a:extLst>
              <a:ext uri="{FF2B5EF4-FFF2-40B4-BE49-F238E27FC236}">
                <a16:creationId xmlns:a16="http://schemas.microsoft.com/office/drawing/2014/main" id="{FFFF914F-52BA-E5FD-8469-B93D91D66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99" y="212248"/>
            <a:ext cx="4612193" cy="5979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 dirty="0" err="1"/>
              <a:t>SetColor</a:t>
            </a:r>
            <a:r>
              <a:rPr lang="en-IN" sz="2800" u="sng" dirty="0"/>
              <a:t>() Function in C++:</a:t>
            </a:r>
            <a:endParaRPr lang="en-US" sz="28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AAD00-372B-624A-1340-A4A52EE79A78}"/>
              </a:ext>
            </a:extLst>
          </p:cNvPr>
          <p:cNvSpPr txBox="1"/>
          <p:nvPr/>
        </p:nvSpPr>
        <p:spPr>
          <a:xfrm>
            <a:off x="259999" y="1136744"/>
            <a:ext cx="4397411" cy="2293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u="sng" dirty="0">
                <a:solidFill>
                  <a:srgbClr val="FFC000"/>
                </a:solidFill>
                <a:latin typeface="Californian FB" panose="0207040306080B030204" pitchFamily="18" charset="0"/>
              </a:rPr>
              <a:t>K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alifornian FB" panose="0207040306080B030204" pitchFamily="18" charset="0"/>
              </a:rPr>
              <a:t>ey Points: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Works only on Windows OS.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Resets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setColor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(7, 0) for White text and Black background </a:t>
            </a:r>
            <a:r>
              <a:rPr lang="en-US" altLang="en-US" sz="1800" dirty="0">
                <a:solidFill>
                  <a:schemeClr val="tx2"/>
                </a:solidFill>
                <a:latin typeface="Californian FB" panose="0207040306080B0302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alifornian FB" panose="0207040306080B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C2CAF-C84A-E456-56D1-4EBE0FDF7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11" y="899326"/>
            <a:ext cx="2878225" cy="25824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2631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>
          <a:extLst>
            <a:ext uri="{FF2B5EF4-FFF2-40B4-BE49-F238E27FC236}">
              <a16:creationId xmlns:a16="http://schemas.microsoft.com/office/drawing/2014/main" id="{D58F40AC-C13D-A9FD-559F-764CFA85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>
            <a:extLst>
              <a:ext uri="{FF2B5EF4-FFF2-40B4-BE49-F238E27FC236}">
                <a16:creationId xmlns:a16="http://schemas.microsoft.com/office/drawing/2014/main" id="{4DBDA231-D393-71D0-663B-85B013F4A3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103" y="253665"/>
            <a:ext cx="3326224" cy="7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u="sng" dirty="0"/>
              <a:t>CONCLUSION</a:t>
            </a:r>
          </a:p>
        </p:txBody>
      </p:sp>
      <p:sp>
        <p:nvSpPr>
          <p:cNvPr id="353" name="Google Shape;353;p50">
            <a:extLst>
              <a:ext uri="{FF2B5EF4-FFF2-40B4-BE49-F238E27FC236}">
                <a16:creationId xmlns:a16="http://schemas.microsoft.com/office/drawing/2014/main" id="{E95BA342-87BC-9D56-FE9F-1B4C446FD5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21364" y="757455"/>
            <a:ext cx="4186500" cy="40532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200000"/>
              </a:lnSpc>
            </a:pPr>
            <a:endParaRPr lang="en-US" sz="1800" b="1" dirty="0">
              <a:latin typeface="Californian FB" panose="0207040306080B030204" pitchFamily="18" charset="0"/>
            </a:endParaRP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fornian FB" panose="0207040306080B030204" pitchFamily="18" charset="0"/>
              </a:rPr>
              <a:t>A simple </a:t>
            </a:r>
            <a:r>
              <a:rPr lang="en-US" sz="1800" b="1" dirty="0">
                <a:latin typeface="Californian FB" panose="0207040306080B030204" pitchFamily="18" charset="0"/>
              </a:rPr>
              <a:t>Student Management System</a:t>
            </a:r>
            <a:r>
              <a:rPr lang="en-US" sz="1800" dirty="0">
                <a:latin typeface="Californian FB" panose="0207040306080B030204" pitchFamily="18" charset="0"/>
              </a:rPr>
              <a:t> using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file handling</a:t>
            </a:r>
            <a:r>
              <a:rPr lang="en-US" sz="1800" dirty="0">
                <a:latin typeface="Californian FB" panose="0207040306080B030204" pitchFamily="18" charset="0"/>
              </a:rPr>
              <a:t>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B0F0"/>
                </a:solidFill>
                <a:latin typeface="Californian FB" panose="0207040306080B030204" pitchFamily="18" charset="0"/>
              </a:rPr>
              <a:t>Add, view, and delete</a:t>
            </a:r>
            <a:r>
              <a:rPr lang="en-US" sz="1800" dirty="0">
                <a:solidFill>
                  <a:srgbClr val="00B0F0"/>
                </a:solidFill>
                <a:latin typeface="Californian FB" panose="0207040306080B030204" pitchFamily="18" charset="0"/>
              </a:rPr>
              <a:t> student </a:t>
            </a:r>
            <a:r>
              <a:rPr lang="en-US" sz="1800" dirty="0">
                <a:latin typeface="Californian FB" panose="0207040306080B030204" pitchFamily="18" charset="0"/>
              </a:rPr>
              <a:t>records easily.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92D050"/>
                </a:solidFill>
                <a:latin typeface="Californian FB" panose="0207040306080B030204" pitchFamily="18" charset="0"/>
              </a:rPr>
              <a:t>Lightweight</a:t>
            </a:r>
            <a:r>
              <a:rPr lang="en-US" sz="1800" dirty="0">
                <a:latin typeface="Californian FB" panose="0207040306080B030204" pitchFamily="18" charset="0"/>
              </a:rPr>
              <a:t> and </a:t>
            </a:r>
            <a:r>
              <a:rPr lang="en-US" sz="1800" b="1" dirty="0">
                <a:latin typeface="Californian FB" panose="0207040306080B030204" pitchFamily="18" charset="0"/>
              </a:rPr>
              <a:t>easy to maintain</a:t>
            </a:r>
            <a:r>
              <a:rPr lang="en-US" sz="1800" dirty="0">
                <a:latin typeface="Californian FB" panose="0207040306080B030204" pitchFamily="18" charset="0"/>
              </a:rPr>
              <a:t> for smaller schools.</a:t>
            </a:r>
          </a:p>
        </p:txBody>
      </p:sp>
      <p:pic>
        <p:nvPicPr>
          <p:cNvPr id="354" name="Google Shape;354;p50">
            <a:extLst>
              <a:ext uri="{FF2B5EF4-FFF2-40B4-BE49-F238E27FC236}">
                <a16:creationId xmlns:a16="http://schemas.microsoft.com/office/drawing/2014/main" id="{D6595FFA-F833-DD4C-050F-6A0B460028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382150" y="2914875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0">
            <a:extLst>
              <a:ext uri="{FF2B5EF4-FFF2-40B4-BE49-F238E27FC236}">
                <a16:creationId xmlns:a16="http://schemas.microsoft.com/office/drawing/2014/main" id="{A1643B01-D66B-D3AD-CC6E-BD19FABE47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25" y="-902250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0">
            <a:extLst>
              <a:ext uri="{FF2B5EF4-FFF2-40B4-BE49-F238E27FC236}">
                <a16:creationId xmlns:a16="http://schemas.microsoft.com/office/drawing/2014/main" id="{D4EB2396-657D-388D-E669-2CC201635F4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427" y="3812984"/>
            <a:ext cx="2244101" cy="15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0">
            <a:extLst>
              <a:ext uri="{FF2B5EF4-FFF2-40B4-BE49-F238E27FC236}">
                <a16:creationId xmlns:a16="http://schemas.microsoft.com/office/drawing/2014/main" id="{5BF79EC7-5550-B7E7-65BA-7136A7AFD93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179289">
            <a:off x="381543" y="270769"/>
            <a:ext cx="1001075" cy="2250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Conclusion Logo: Over 1,373 Royalty-Free Licensable Stock ...">
            <a:extLst>
              <a:ext uri="{FF2B5EF4-FFF2-40B4-BE49-F238E27FC236}">
                <a16:creationId xmlns:a16="http://schemas.microsoft.com/office/drawing/2014/main" id="{E991CD4A-B361-35BF-DD05-05DE15695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55" y="1514716"/>
            <a:ext cx="2572332" cy="253869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925949"/>
      </p:ext>
    </p:extLst>
  </p:cSld>
  <p:clrMapOvr>
    <a:masterClrMapping/>
  </p:clrMapOvr>
  <p:transition spd="slow">
    <p:wheel spokes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>
          <a:extLst>
            <a:ext uri="{FF2B5EF4-FFF2-40B4-BE49-F238E27FC236}">
              <a16:creationId xmlns:a16="http://schemas.microsoft.com/office/drawing/2014/main" id="{3F15F9E8-007F-30AD-C2C2-9BCC55E3E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>
            <a:extLst>
              <a:ext uri="{FF2B5EF4-FFF2-40B4-BE49-F238E27FC236}">
                <a16:creationId xmlns:a16="http://schemas.microsoft.com/office/drawing/2014/main" id="{3566107C-4FE6-3E37-620D-45CFF2C38F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103" y="640527"/>
            <a:ext cx="3326224" cy="7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u="sng" dirty="0"/>
              <a:t>IMPORTANCE:</a:t>
            </a:r>
          </a:p>
        </p:txBody>
      </p:sp>
      <p:sp>
        <p:nvSpPr>
          <p:cNvPr id="353" name="Google Shape;353;p50">
            <a:extLst>
              <a:ext uri="{FF2B5EF4-FFF2-40B4-BE49-F238E27FC236}">
                <a16:creationId xmlns:a16="http://schemas.microsoft.com/office/drawing/2014/main" id="{161ED7E0-6AF6-C607-9242-EA231D1EEF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58830" y="1210609"/>
            <a:ext cx="5068458" cy="3292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alifornian FB" panose="0207040306080B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 Efficiently manages student 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alifornian FB" panose="0207040306080B030204" pitchFamily="18" charset="0"/>
              </a:rPr>
              <a:t>Advantages: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92D050"/>
              </a:solidFill>
              <a:effectLst/>
              <a:latin typeface="Californian FB" panose="0207040306080B030204" pitchFamily="18" charset="0"/>
            </a:endParaRPr>
          </a:p>
          <a:p>
            <a:pPr marL="457200" lvl="1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Simple and easy to use.</a:t>
            </a:r>
          </a:p>
          <a:p>
            <a:pPr marL="457200" lvl="1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fornian FB" panose="0207040306080B030204" pitchFamily="18" charset="0"/>
              </a:rPr>
              <a:t>No need for a database.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alifornian FB" panose="0207040306080B030204" pitchFamily="18" charset="0"/>
            </a:endParaRPr>
          </a:p>
        </p:txBody>
      </p:sp>
      <p:pic>
        <p:nvPicPr>
          <p:cNvPr id="354" name="Google Shape;354;p50">
            <a:extLst>
              <a:ext uri="{FF2B5EF4-FFF2-40B4-BE49-F238E27FC236}">
                <a16:creationId xmlns:a16="http://schemas.microsoft.com/office/drawing/2014/main" id="{ABE51F1D-6D46-17DB-165A-BEEC09B917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382150" y="2914875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0">
            <a:extLst>
              <a:ext uri="{FF2B5EF4-FFF2-40B4-BE49-F238E27FC236}">
                <a16:creationId xmlns:a16="http://schemas.microsoft.com/office/drawing/2014/main" id="{2604387E-D243-F045-BA7B-71B435E370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25" y="-902250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0">
            <a:extLst>
              <a:ext uri="{FF2B5EF4-FFF2-40B4-BE49-F238E27FC236}">
                <a16:creationId xmlns:a16="http://schemas.microsoft.com/office/drawing/2014/main" id="{0DBEE843-A9AB-FE19-0274-BE48E582588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40281">
            <a:off x="447483" y="2367447"/>
            <a:ext cx="3408965" cy="129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0">
            <a:extLst>
              <a:ext uri="{FF2B5EF4-FFF2-40B4-BE49-F238E27FC236}">
                <a16:creationId xmlns:a16="http://schemas.microsoft.com/office/drawing/2014/main" id="{C65C89B2-EEAA-4FF3-5EAC-96D038C10C9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4649" y="3079454"/>
            <a:ext cx="2244101" cy="15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0">
            <a:extLst>
              <a:ext uri="{FF2B5EF4-FFF2-40B4-BE49-F238E27FC236}">
                <a16:creationId xmlns:a16="http://schemas.microsoft.com/office/drawing/2014/main" id="{F22D1194-DB15-F7AF-739D-01F5ED2094C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736" y="3616826"/>
            <a:ext cx="616990" cy="6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Key Consideration PowerPoint and Google Slides Template - PPT Slides">
            <a:extLst>
              <a:ext uri="{FF2B5EF4-FFF2-40B4-BE49-F238E27FC236}">
                <a16:creationId xmlns:a16="http://schemas.microsoft.com/office/drawing/2014/main" id="{74515E02-7A54-6020-959F-D575A40BF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36" y="1647930"/>
            <a:ext cx="3326224" cy="273085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3666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691CABF8-EACF-C581-B9AB-3E59D1662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3">
            <a:extLst>
              <a:ext uri="{FF2B5EF4-FFF2-40B4-BE49-F238E27FC236}">
                <a16:creationId xmlns:a16="http://schemas.microsoft.com/office/drawing/2014/main" id="{DF8F1BB8-061C-57BF-0EB2-B8F3EE9C3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8600" y="381300"/>
            <a:ext cx="6763500" cy="12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u="sng" dirty="0"/>
              <a:t>FUTURE SCOPE</a:t>
            </a:r>
          </a:p>
        </p:txBody>
      </p:sp>
      <p:sp>
        <p:nvSpPr>
          <p:cNvPr id="633" name="Google Shape;633;p63">
            <a:extLst>
              <a:ext uri="{FF2B5EF4-FFF2-40B4-BE49-F238E27FC236}">
                <a16:creationId xmlns:a16="http://schemas.microsoft.com/office/drawing/2014/main" id="{BBA82C73-2201-1EBB-A0B6-80999FD308EA}"/>
              </a:ext>
            </a:extLst>
          </p:cNvPr>
          <p:cNvSpPr/>
          <p:nvPr/>
        </p:nvSpPr>
        <p:spPr>
          <a:xfrm>
            <a:off x="8440089" y="539500"/>
            <a:ext cx="33" cy="1623713"/>
          </a:xfrm>
          <a:custGeom>
            <a:avLst/>
            <a:gdLst/>
            <a:ahLst/>
            <a:cxnLst/>
            <a:rect l="l" t="t" r="r" b="b"/>
            <a:pathLst>
              <a:path w="1" h="48556" fill="none" extrusionOk="0">
                <a:moveTo>
                  <a:pt x="0" y="0"/>
                </a:moveTo>
                <a:lnTo>
                  <a:pt x="0" y="48555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197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63">
            <a:extLst>
              <a:ext uri="{FF2B5EF4-FFF2-40B4-BE49-F238E27FC236}">
                <a16:creationId xmlns:a16="http://schemas.microsoft.com/office/drawing/2014/main" id="{CB7AF55E-1DAB-F1A2-908E-A2E26B55A0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4517" y="994200"/>
            <a:ext cx="6858583" cy="4157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1800" b="1" dirty="0">
                <a:solidFill>
                  <a:srgbClr val="92D050"/>
                </a:solidFill>
                <a:latin typeface="Californian FB" panose="0207040306080B030204" pitchFamily="18" charset="0"/>
              </a:rPr>
              <a:t>Future Enhancements: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latin typeface="Californian FB" panose="0207040306080B030204" pitchFamily="18" charset="0"/>
              </a:rPr>
              <a:t>Search Functionality</a:t>
            </a:r>
            <a:r>
              <a:rPr lang="en-US" sz="1800" dirty="0">
                <a:latin typeface="Californian FB" panose="0207040306080B030204" pitchFamily="18" charset="0"/>
              </a:rPr>
              <a:t> to find students by name or roll number.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>
                <a:latin typeface="Californian FB" panose="0207040306080B030204" pitchFamily="18" charset="0"/>
              </a:rPr>
              <a:t>Database </a:t>
            </a:r>
            <a:r>
              <a:rPr lang="en-US" sz="1800" b="1" dirty="0">
                <a:latin typeface="Californian FB" panose="0207040306080B030204" pitchFamily="18" charset="0"/>
              </a:rPr>
              <a:t>Integration</a:t>
            </a:r>
            <a:r>
              <a:rPr lang="en-US" sz="1800" dirty="0">
                <a:latin typeface="Californian FB" panose="0207040306080B030204" pitchFamily="18" charset="0"/>
              </a:rPr>
              <a:t> for larger-scale usage.</a:t>
            </a:r>
          </a:p>
          <a:p>
            <a:pPr>
              <a:lnSpc>
                <a:spcPct val="200000"/>
              </a:lnSpc>
            </a:pPr>
            <a:r>
              <a:rPr lang="en-US" sz="1800" b="1" dirty="0">
                <a:solidFill>
                  <a:srgbClr val="92D050"/>
                </a:solidFill>
                <a:latin typeface="Californian FB" panose="0207040306080B030204" pitchFamily="18" charset="0"/>
              </a:rPr>
              <a:t>Limitations: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fornian FB" panose="0207040306080B030204" pitchFamily="18" charset="0"/>
              </a:rPr>
              <a:t>Only basic operations (add, view, delete).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fornian FB" panose="0207040306080B030204" pitchFamily="18" charset="0"/>
              </a:rPr>
              <a:t>Console-based interface, may not be as user-friendly for larger systems.</a:t>
            </a:r>
          </a:p>
        </p:txBody>
      </p:sp>
      <p:pic>
        <p:nvPicPr>
          <p:cNvPr id="636" name="Google Shape;636;p63">
            <a:extLst>
              <a:ext uri="{FF2B5EF4-FFF2-40B4-BE49-F238E27FC236}">
                <a16:creationId xmlns:a16="http://schemas.microsoft.com/office/drawing/2014/main" id="{10182E79-243C-56F5-A338-D9EEA24FCD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5848969" y="311774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63">
            <a:extLst>
              <a:ext uri="{FF2B5EF4-FFF2-40B4-BE49-F238E27FC236}">
                <a16:creationId xmlns:a16="http://schemas.microsoft.com/office/drawing/2014/main" id="{02FD815A-5D80-36E1-FF9A-3CB1AD9867F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56468">
            <a:off x="7454695" y="3856550"/>
            <a:ext cx="1887292" cy="19667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067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>
          <a:extLst>
            <a:ext uri="{FF2B5EF4-FFF2-40B4-BE49-F238E27FC236}">
              <a16:creationId xmlns:a16="http://schemas.microsoft.com/office/drawing/2014/main" id="{C8F843D9-F516-1728-4B81-82DAE8F6C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>
            <a:extLst>
              <a:ext uri="{FF2B5EF4-FFF2-40B4-BE49-F238E27FC236}">
                <a16:creationId xmlns:a16="http://schemas.microsoft.com/office/drawing/2014/main" id="{749A7F2A-B118-B81A-B064-56FE08466A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103" y="640527"/>
            <a:ext cx="3326224" cy="7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u="sng" dirty="0"/>
              <a:t>REFERENCES</a:t>
            </a:r>
          </a:p>
        </p:txBody>
      </p:sp>
      <p:sp>
        <p:nvSpPr>
          <p:cNvPr id="353" name="Google Shape;353;p50">
            <a:extLst>
              <a:ext uri="{FF2B5EF4-FFF2-40B4-BE49-F238E27FC236}">
                <a16:creationId xmlns:a16="http://schemas.microsoft.com/office/drawing/2014/main" id="{CBFFF2A9-2134-CD55-F671-93FD6A24F10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35264" y="1733179"/>
            <a:ext cx="4208735" cy="32759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92D050"/>
                </a:solidFill>
                <a:latin typeface="Californian FB" panose="0207040306080B030204" pitchFamily="18" charset="0"/>
              </a:rPr>
              <a:t>C++ Programming Documentation:</a:t>
            </a:r>
            <a:r>
              <a:rPr lang="en-US" sz="1800" dirty="0">
                <a:solidFill>
                  <a:srgbClr val="92D050"/>
                </a:solidFill>
                <a:latin typeface="Californian FB" panose="0207040306080B030204" pitchFamily="18" charset="0"/>
              </a:rPr>
              <a:t> </a:t>
            </a:r>
            <a:r>
              <a:rPr lang="en-US" sz="1800" dirty="0">
                <a:latin typeface="Californian FB" panose="0207040306080B030204" pitchFamily="18" charset="0"/>
              </a:rPr>
              <a:t>Official C++ docs fora features and libraries.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B0F0"/>
                </a:solidFill>
                <a:latin typeface="Californian FB" panose="0207040306080B030204" pitchFamily="18" charset="0"/>
              </a:rPr>
              <a:t>File Handling in C++</a:t>
            </a:r>
            <a:r>
              <a:rPr lang="en-US" sz="1800" b="1" dirty="0">
                <a:latin typeface="Californian FB" panose="0207040306080B030204" pitchFamily="18" charset="0"/>
              </a:rPr>
              <a:t>:</a:t>
            </a:r>
            <a:r>
              <a:rPr lang="en-US" sz="1800" dirty="0">
                <a:latin typeface="Californian FB" panose="0207040306080B030204" pitchFamily="18" charset="0"/>
              </a:rPr>
              <a:t> Tutorials explaining file handling techniques.</a:t>
            </a:r>
          </a:p>
        </p:txBody>
      </p:sp>
      <p:pic>
        <p:nvPicPr>
          <p:cNvPr id="354" name="Google Shape;354;p50">
            <a:extLst>
              <a:ext uri="{FF2B5EF4-FFF2-40B4-BE49-F238E27FC236}">
                <a16:creationId xmlns:a16="http://schemas.microsoft.com/office/drawing/2014/main" id="{A60FF57D-68CB-DB5E-7BD5-DF3A404ED7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382150" y="2914875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0">
            <a:extLst>
              <a:ext uri="{FF2B5EF4-FFF2-40B4-BE49-F238E27FC236}">
                <a16:creationId xmlns:a16="http://schemas.microsoft.com/office/drawing/2014/main" id="{71EC88D3-C1DB-35AD-813D-3D49A3E93EC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25" y="-902250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0">
            <a:extLst>
              <a:ext uri="{FF2B5EF4-FFF2-40B4-BE49-F238E27FC236}">
                <a16:creationId xmlns:a16="http://schemas.microsoft.com/office/drawing/2014/main" id="{4E542AAA-0902-69D1-98B4-CF68629BE50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40281">
            <a:off x="447483" y="2367447"/>
            <a:ext cx="3408965" cy="129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0">
            <a:extLst>
              <a:ext uri="{FF2B5EF4-FFF2-40B4-BE49-F238E27FC236}">
                <a16:creationId xmlns:a16="http://schemas.microsoft.com/office/drawing/2014/main" id="{73892995-55BF-A28E-8EC6-BAA36B017E8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4649" y="3079454"/>
            <a:ext cx="2244101" cy="15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0">
            <a:extLst>
              <a:ext uri="{FF2B5EF4-FFF2-40B4-BE49-F238E27FC236}">
                <a16:creationId xmlns:a16="http://schemas.microsoft.com/office/drawing/2014/main" id="{F0D6A5DC-9929-F456-D823-9BF79BD0F72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179289">
            <a:off x="1975039" y="1238001"/>
            <a:ext cx="1001075" cy="2250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0">
            <a:extLst>
              <a:ext uri="{FF2B5EF4-FFF2-40B4-BE49-F238E27FC236}">
                <a16:creationId xmlns:a16="http://schemas.microsoft.com/office/drawing/2014/main" id="{F9870592-9C81-A96A-D26C-7DDD3D26D2E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736" y="3616826"/>
            <a:ext cx="616990" cy="6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0">
            <a:extLst>
              <a:ext uri="{FF2B5EF4-FFF2-40B4-BE49-F238E27FC236}">
                <a16:creationId xmlns:a16="http://schemas.microsoft.com/office/drawing/2014/main" id="{96D629A2-B0DB-3779-9E64-81B30A7E9A28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30566" y="1210609"/>
            <a:ext cx="875027" cy="892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2948756"/>
      </p:ext>
    </p:extLst>
  </p:cSld>
  <p:clrMapOvr>
    <a:masterClrMapping/>
  </p:clrMapOvr>
  <p:transition spd="slow">
    <p:comb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76"/>
          <p:cNvSpPr txBox="1">
            <a:spLocks noGrp="1"/>
          </p:cNvSpPr>
          <p:nvPr>
            <p:ph type="title"/>
          </p:nvPr>
        </p:nvSpPr>
        <p:spPr>
          <a:xfrm>
            <a:off x="713225" y="549500"/>
            <a:ext cx="4971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 dirty="0"/>
          </a:p>
        </p:txBody>
      </p:sp>
      <p:sp>
        <p:nvSpPr>
          <p:cNvPr id="1081" name="Google Shape;1081;p76"/>
          <p:cNvSpPr/>
          <p:nvPr/>
        </p:nvSpPr>
        <p:spPr>
          <a:xfrm>
            <a:off x="859326" y="1862025"/>
            <a:ext cx="353031" cy="353422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grpSp>
        <p:nvGrpSpPr>
          <p:cNvPr id="1082" name="Google Shape;1082;p76"/>
          <p:cNvGrpSpPr/>
          <p:nvPr/>
        </p:nvGrpSpPr>
        <p:grpSpPr>
          <a:xfrm>
            <a:off x="1431400" y="1862442"/>
            <a:ext cx="353427" cy="353037"/>
            <a:chOff x="3752358" y="3817349"/>
            <a:chExt cx="346056" cy="345674"/>
          </a:xfrm>
        </p:grpSpPr>
        <p:sp>
          <p:nvSpPr>
            <p:cNvPr id="1083" name="Google Shape;1083;p7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84" name="Google Shape;1084;p7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85" name="Google Shape;1085;p7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86" name="Google Shape;1086;p7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1087" name="Google Shape;1087;p76"/>
          <p:cNvGrpSpPr/>
          <p:nvPr/>
        </p:nvGrpSpPr>
        <p:grpSpPr>
          <a:xfrm>
            <a:off x="2003844" y="1862442"/>
            <a:ext cx="353427" cy="353037"/>
            <a:chOff x="3303268" y="3817349"/>
            <a:chExt cx="346056" cy="345674"/>
          </a:xfrm>
        </p:grpSpPr>
        <p:sp>
          <p:nvSpPr>
            <p:cNvPr id="1088" name="Google Shape;1088;p7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89" name="Google Shape;1089;p7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90" name="Google Shape;1090;p7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91" name="Google Shape;1091;p7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pic>
        <p:nvPicPr>
          <p:cNvPr id="1093" name="Google Shape;109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4250" y="1352550"/>
            <a:ext cx="2685800" cy="2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5275" y="-373550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2275" y="2112832"/>
            <a:ext cx="3571874" cy="35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55747">
            <a:off x="6264565" y="614423"/>
            <a:ext cx="1887295" cy="1966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4524" y="1821219"/>
            <a:ext cx="2094200" cy="1744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71075" y="2575025"/>
            <a:ext cx="839381" cy="8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2956458">
            <a:off x="6004941" y="1484648"/>
            <a:ext cx="1001074" cy="225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79725" y="3873300"/>
            <a:ext cx="588600" cy="61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CD14D2-938C-EC26-7B9B-0FF1CC38992D}"/>
              </a:ext>
            </a:extLst>
          </p:cNvPr>
          <p:cNvSpPr/>
          <p:nvPr/>
        </p:nvSpPr>
        <p:spPr>
          <a:xfrm>
            <a:off x="616851" y="3378775"/>
            <a:ext cx="4754098" cy="9420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lack and Gold Pitch Deck by Slidesgo">
  <a:themeElements>
    <a:clrScheme name="Simple Light">
      <a:dk1>
        <a:srgbClr val="000000"/>
      </a:dk1>
      <a:lt1>
        <a:srgbClr val="E9C78C"/>
      </a:lt1>
      <a:dk2>
        <a:srgbClr val="FAECD3"/>
      </a:dk2>
      <a:lt2>
        <a:srgbClr val="FFFFFF"/>
      </a:lt2>
      <a:accent1>
        <a:srgbClr val="E2E2E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771</Words>
  <Application>Microsoft Office PowerPoint</Application>
  <PresentationFormat>On-screen Show (16:9)</PresentationFormat>
  <Paragraphs>156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Cardo</vt:lpstr>
      <vt:lpstr>Anaheim</vt:lpstr>
      <vt:lpstr>Bell MT</vt:lpstr>
      <vt:lpstr>Open Sans</vt:lpstr>
      <vt:lpstr>Josefin Sans</vt:lpstr>
      <vt:lpstr>Teko</vt:lpstr>
      <vt:lpstr>Aldhabi</vt:lpstr>
      <vt:lpstr>Arial</vt:lpstr>
      <vt:lpstr>Roboto Condensed Light</vt:lpstr>
      <vt:lpstr>Bookman Old Style</vt:lpstr>
      <vt:lpstr>Times New Roman</vt:lpstr>
      <vt:lpstr>Berlin Sans FB</vt:lpstr>
      <vt:lpstr>Californian FB</vt:lpstr>
      <vt:lpstr>Black and Gold Pitch Deck by Slidesgo</vt:lpstr>
      <vt:lpstr>D.Y PATIL COLLEGE OF ENGINEERING &amp; TECHNOLOGY</vt:lpstr>
      <vt:lpstr>CONTENTS</vt:lpstr>
      <vt:lpstr>INTRODUCTION</vt:lpstr>
      <vt:lpstr>INTRODUCTION</vt:lpstr>
      <vt:lpstr>PROBLEM STATEMENT:</vt:lpstr>
      <vt:lpstr>OBJECTIVES</vt:lpstr>
      <vt:lpstr>SYSTEM DESIGN</vt:lpstr>
      <vt:lpstr>FLOWCHART</vt:lpstr>
      <vt:lpstr>Description of Modules</vt:lpstr>
      <vt:lpstr>SOFTWARE &amp; HARDWARE REQUIREMENTS</vt:lpstr>
      <vt:lpstr>LIBRARIES USED:</vt:lpstr>
      <vt:lpstr>RESULT ANALYSIS</vt:lpstr>
      <vt:lpstr>PowerPoint Presentation</vt:lpstr>
      <vt:lpstr>PowerPoint Presentation</vt:lpstr>
      <vt:lpstr>PowerPoint Presentation</vt:lpstr>
      <vt:lpstr>PowerPoint Presentation</vt:lpstr>
      <vt:lpstr>COMPARISON OF PROPOSED SYSTEM WITH EXISTING SYSTEM</vt:lpstr>
      <vt:lpstr>SetColor() Function in C++:</vt:lpstr>
      <vt:lpstr>SetColor() Function in C++:</vt:lpstr>
      <vt:lpstr>SetColor() Function in C++:</vt:lpstr>
      <vt:lpstr>CONCLUSION</vt:lpstr>
      <vt:lpstr>IMPORTANCE:</vt:lpstr>
      <vt:lpstr>FUTURE SCOPE</vt:lpstr>
      <vt:lpstr>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Shivam Patil</dc:creator>
  <cp:lastModifiedBy>Shivam Patil</cp:lastModifiedBy>
  <cp:revision>17</cp:revision>
  <dcterms:modified xsi:type="dcterms:W3CDTF">2024-12-23T04:43:49Z</dcterms:modified>
</cp:coreProperties>
</file>